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2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5912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BCSE335L HEALTHCARE DATA ANALYTICS · FINAL REVIEW · COURSE EVALUATION: DR. MAHESWARI S (@DR MAHESWARI 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5912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mbria"/>
              </a:rPr>
              <a:t>DERMA-GUARD: Evidence-Aware Specialist Consensus with Risk-Controlled Evidence Acquisition and Deferral for Multimodal Dermatology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725912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BFE3DE"/>
                </a:solidFill>
                <a:latin typeface="Calibri"/>
              </a:rPr>
              <a:t>PAD-UFES-20 Benchmark (N=2,298) · Learn-then-Test Distribution-Free Risk Bounds (3.1%) · 95% Mondrian Conformal Sets · FAISS Visual Case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394960" cy="27432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39496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502920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RESEARCH TEAM &amp; AUTHORS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• Patel Kavya Vipulkumar — B.Tech Data Science (patel.kavya2023@vitstudent.ac.in)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• Aarav Prawin — B.Tech Data Science (aarav.prawin2023@vitstudent.ac.in)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5B7C82"/>
                </a:solidFill>
                <a:latin typeface="Calibri"/>
              </a:rPr>
              <a:t>School of Computer Science and Engineering (SCOPE), VIT Chennai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5056632" cy="27432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749039"/>
            <a:ext cx="5056632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886200"/>
            <a:ext cx="4690872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EVALUATION &amp; REPOSITORY</a:t>
            </a:r>
          </a:p>
          <a:p>
            <a:pPr algn="l">
              <a:spcBef>
                <a:spcPts val="30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 Instructor: Dr. Maheswari S (@Dr Maheswari S)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Course Code: BCSE335L Healthcare Data Analytics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Institution: Vellore Institute of Technology (VIT), Chennai</a:t>
            </a:r>
          </a:p>
          <a:p>
            <a:pPr algn="l">
              <a:spcBef>
                <a:spcPts val="40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Public GitHub Repository:</a:t>
            </a:r>
          </a:p>
          <a:p>
            <a:pPr algn="l">
              <a:spcBef>
                <a:spcPts val="200"/>
              </a:spcBef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https://github.com/DERMA-GUARD-Healthcare/DERMA-GUARD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CLINICAL CONTEXT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Diagnostic Trilemma in Teledermatology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Why typical deep learning classifiers fail when deployed on real patient smartphone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82496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Silent Overconfidence on Corrupted Evidence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Standard models output high softmax probabilities even when an image is blurred, poorly lit, or occluded. In teledermatology, bad photos count identically to studio dermoscopy, risking dangerous misdiagnoses.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926080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52928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Rigid Equal-Weight Multimodal Fusion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Current multimodal networks concatenate visual features, metadata, and symptom text equally. When patient recall is flawed or metadata is incomplete, degraded modalities poison clean signals without dynamic attenuation.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13632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60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Lack of Certified Missed-Cancer Guarantees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Conventional selective classification applies arbitrary confidence cutoffs. These rejectors fail to guarantee statistical safety bounds on false-negative cancer rates and fluctuate widely across different neural backbones.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84064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84064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5266944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66944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93792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Black-Box Decisions Without Case Precedents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Clinicians distrust solitary numerical risk scores. Without transparent evidence breakdowns, look-alike historical cases, and explicit deferral mechanisms, doctors cannot safely triage borderline lesions.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CORE SCIENTIFIC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Four Foundational Methodological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How DERMA-GUARD advances beyond static multimodal deep learning and uncalibrated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Dynamic Evidence Profiler (Q, R, U, C, 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The first multimodal skin lesion framework to mathematically decouple evidence quality assessment from raw classification. Evaluates image sharpness/contrast (Q), predictive entropy/TTA stability (R), Bayesian disease utility prior (U), and Jensen–Shannon consistency (C). Weights adapt dynamically via iterative prior refinement.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7276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39" y="1755648"/>
            <a:ext cx="384048" cy="384048"/>
          </a:xfrm>
          <a:prstGeom prst="ellipse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73736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Certified Learn-then-Test (LTT) Risk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216712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Replaces heuristic softmax rejection with distribution-free Learn-then-Test finite-sample risk bounds. Empirically certifies a ≤3.1% missed-cancer rate on accepted cases (p=0.011 vs. baseline Learning-to-Defer), accompanied by 95% Mondrian conformal prediction sets C(x).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9592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17880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7880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Visual &amp; Textual Case RAG (FAISS Index)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9028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Integrates dual-modality FAISS vector search over 1,953 histopathologically verified cases. Retrieves top-8 confirmed historical look-alikes in &lt;10ms, granting dermatologists side-by-side photographic comparison and similarity-weighted diagnostic concordance.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99592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99592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39" y="4178808"/>
            <a:ext cx="384048" cy="384048"/>
          </a:xfrm>
          <a:prstGeom prst="ellipse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17880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416052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Active Value-of-Information (VOI) 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459028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When evidence sufficiency is marginal (0.30 ≤ S &lt; 0.50), an automated decision-theoretic engine optimizes clinical diagnostic gain against monetary cost and patient turnaround delay, actively requesting targeted supplementary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OBJECTIVES &amp;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Formal Research Questions Driving DERMA-GUARD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Addressing evidence awareness, statistical safety bounds, and explainable clinical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5661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1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Evidence-Aware Dynamic Fusion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How can a system quantitatively assess Quality (Q), Predictive Reliability (R), Clinical Utility (U), and Consistency (C) per input—dynamically downweighting corrupted evidence and gating sufficiency (S)?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Prevent uncalibrated guesses on bad images; trigger active acquisition.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72768"/>
            <a:ext cx="356616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2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Conformal Risk-Controlled Bounds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Can distribution-free conformal calibration and Learn-then-Test (LTT) bounds mathematically certify that the missed-malignancy rate remains below 5%, outperforming classical learning-to-defer baselines?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Certified miss rate ≤ 5% on accepted cases with maximal clinical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572768"/>
            <a:ext cx="356616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3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Case-Based RAG &amp; Privacy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Can visual case-based retrieval ground multi-agent clinical decision support with verified look-alike cases while complying with India's DPDP Act 2023 and ICMR AI Guidelines?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Top-8 historical confirmed matches in &lt;10ms; zero patient data sharing.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DERMA-GUARD Evidence-Governed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Three clinical inputs feed seven specialized neural models, evidence manager, and 4-tier decision gate</a:t>
            </a:r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498079" cy="49654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572768"/>
            <a:ext cx="347472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310896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PIPELINE HIGHLIGHTS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1. Input Modalities: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Smartphone photo, 26 metadata covariates, and clinical symptom text narrative.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2. Neural Encoders: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ResNet50 + MHSA ViT, Residual MetaBlock MLP, and Bio_ClinicalBERT.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3. Evidence Manager: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Calculates Q, R, U, C scores. Refines fusion weights via Bayesian iterative prior.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4. Risk Decision Gate: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95% Conformal prediction sets + Learn-then-Test (LTT) triage (Accept, Acquire, Arbitrate, Escalate).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DATASET &amp; COHORT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PAD-UFES-20 Cohort &amp; Leakage-Free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Strict patient-disjoint partition (N=2,298 across 1,373 unique patients) prevents optimistic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3949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COHORT CHARACTERISTICS</a:t>
            </a:r>
          </a:p>
          <a:p>
            <a:pPr algn="l">
              <a:spcBef>
                <a:spcPts val="6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Source: Dermatological and Surgical Assistance Program, UFES, Brazil</a:t>
            </a:r>
          </a:p>
          <a:p>
            <a:pPr algn="l">
              <a:spcBef>
                <a:spcPts val="4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Ethics &amp; License: Mendeley Data (CC BY 4.0), UFES Approval CAAE: 54611416.4.0000.5060</a:t>
            </a:r>
          </a:p>
          <a:p>
            <a:pPr algn="l">
              <a:spcBef>
                <a:spcPts val="4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Ground Truth: &gt;58% biopsy histopathology; remainder verified by 3-dermatologist panel</a:t>
            </a:r>
          </a:p>
          <a:p>
            <a:pPr algn="l">
              <a:spcBef>
                <a:spcPts val="600"/>
              </a:spcBef>
            </a:pPr>
            <a:r>
              <a:rPr sz="1120" b="1" i="0">
                <a:solidFill>
                  <a:srgbClr val="0F3D3E"/>
                </a:solidFill>
                <a:latin typeface="Calibri"/>
              </a:rPr>
              <a:t>• Total Size: 2,298 smartphone photos with 26 clinical covariates across 6 diagnostic classes: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Basal Cell Carcinoma (BCC): 845 cases (Malignant)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Actinic Keratosis (ACK): 730 cases (Pre-cancerous)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Melanocytic Nevus (NEV): 244 cases (Benign)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Seborrheic Keratosis (SEK): 235 cases (Benign)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Squamous Cell Carcinoma (SCC): 192 cases (Malignant)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6B2121"/>
                </a:solidFill>
                <a:latin typeface="Calibri"/>
              </a:rPr>
              <a:t>   - Malignant Melanoma (MEL): 52 cases (Highly Malignant)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5486400" cy="475488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NO-DATA-LEAKAGE AUDIT &amp; PROTOCOL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The Patient-Level Disjoint Split Rule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BFE3DE"/>
                </a:solidFill>
                <a:latin typeface="Calibri"/>
              </a:rPr>
              <a:t>Legacy baseline scripts often split by image, leaking multiple lesions from the same patient across train and test partitions and falsely inflating accuracy.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Our Enforced Patient Split (Grouped by patient_id, seed=42):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Train Set: 1,953 instances (85.0% of cohort)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Val / Calibration Set: 229 instances (10.0% of cohort)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Held-Out Test Set: 459 instances (20.0% patients): 169 BCC, 146 ACK, 49 NEV, 47 SEK, 38 SCC, 10 MEL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• Transformers &amp; Scalers: Fitted strictly on training partition only. No target or feature leak.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SYSTEMATIC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7 Benchmark Models Ladder (Models A Through 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Evaluating every mathematical subset of modalities on identical held-out test partition (N=459)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82296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64208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572768"/>
            <a:ext cx="192024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1664208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Input Modalities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72768"/>
            <a:ext cx="365760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66420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Neural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572768"/>
            <a:ext cx="100584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664208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572768"/>
            <a:ext cx="365760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166420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Diagnostic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39696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31136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139696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2231136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13969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223113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ResNet50 + Multi-Head Self-Attention ViT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13969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231136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85.62%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13969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2" y="223113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 lesion morphology baseline (393/459)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706624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2798064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706624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9032" y="2798064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Metadata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706624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9272" y="279806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3-Layer Residual MetaBlock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2706624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798064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84.10%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2706624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279806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Demographic &amp; clinical history baseline (386/459)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73552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364992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5880" y="327355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99032" y="3364992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Free Text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27355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3364992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(768-d mean pooled)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3273552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6872" y="3364992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83.44%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327355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82712" y="3364992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NLP symptom narrative baseline (383/459)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40480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3931920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" y="3840480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9032" y="3931920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+ Metadata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3840480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9272" y="3931920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ViT + MetaBlock MLP late concatenation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3840480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76872" y="3931920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88.45%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3840480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82712" y="3931920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Visual-demographic synergy (Top AUROC 0.9994)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407408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4498848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25880" y="4407408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99032" y="4498848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+ Text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40740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19272" y="449884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ViT + Bio_ClinicalBERT late concatenation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440740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76872" y="4498848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88.02%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9560" y="440740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82712" y="449884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Visual-narrative synergy (Top Precision 0.8350)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974336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" y="5065776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" y="4974336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99032" y="5065776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Metadata + 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4974336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19272" y="506577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+ MetaBlock MLP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03720" y="4974336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76872" y="5065776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87.36%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4974336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82712" y="506577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Non-imaging telemedicine consultation (401/459)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541264"/>
            <a:ext cx="82296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" y="5632704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25880" y="5541264"/>
            <a:ext cx="192024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99032" y="5632704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Full Tri-Modal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5541264"/>
            <a:ext cx="365760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9272" y="563270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ViT + MetaBlock MLP + Bio_ClinicalBERT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5541264"/>
            <a:ext cx="100584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76872" y="5632704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89.76%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09560" y="5541264"/>
            <a:ext cx="365760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82712" y="563270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TOP PERFORMANCE — 89.76% Acc &amp; 0.9456 Sensitivity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COMPREHENSIVE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Master Scorecard: All 7 Models Evaluated on PAD-UFES-20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Held-out test partition (N=459) | 30 epochs | AdamW with cosine annealing</a:t>
            </a:r>
          </a:p>
        </p:txBody>
      </p:sp>
      <p:pic>
        <p:nvPicPr>
          <p:cNvPr id="6" name="Picture 5" descr="models_master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11155680" cy="39886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32120"/>
            <a:ext cx="11155680" cy="96012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96128"/>
            <a:ext cx="10789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EXACT RESULTS FROM saved_models (NEVER ACCURACY ALONE — ALL METRICS REPORTED WITH 95% CIs)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33872"/>
            <a:ext cx="107899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• Model G (Full Tri-Modal): 89.76% Acc [95% CI: 86.6, 92.2] | 0.9456 Sensitivity | 0.9791 Specificity | 0.8623 F1 | 0.9985 AUROC | 0.9958 AUPRC
• Model D (Image+Metadata): 88.45% Acc [95% CI: 85.2, 91.1] | 0.9442 Sensitivity | 0.9994 Macro AUROC | 0.9983 AUPRC
• Model E (Image+Text): 88.02% Acc [95% CI: 84.7, 90.7] | 0.9413 Sensitivity | 0.9987 Macro AUROC | 0.9972 AUPRC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Modality Synergy &amp; Incremental Diagnostic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Quantifying exact gains contributed by visual morphology, patient metadata, and symptom narratives</a:t>
            </a:r>
          </a:p>
        </p:txBody>
      </p:sp>
      <p:pic>
        <p:nvPicPr>
          <p:cNvPr id="6" name="Picture 5" descr="models_comparison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040880" cy="3493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72768"/>
            <a:ext cx="388620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5204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INCREMENTAL VALUE ANALYSIS (FROM saved_models)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Adding Metadata (+2.83%):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Adding patient metadata to image (A → D) lifted accuracy from 85.62% to 88.45% and boosted AUROC to 0.9994.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01752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Adding Clinical Text (+2.40%):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Adding symptom narratives to image (A → E) boosted accuracy from 85.62% to 88.02% and sensitivity to 0.9413.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8620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Full Multimodal Synergy (+4.14%):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Combining all three modalities (A → G) produced the peak accuracy of 89.76% and highest sensitivity of 0.9456.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75488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Dynamic Fusion Weights: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Learned fusion weights for Model G: Image 0.7172 | Metadata 0.1785 | Clinical Text 0.1044.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62356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Top Oncological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 achieved 100.0% recall on Melanoma (10/10), 94.74% on SCC (36/38), and 100% on benign nevi and keratoses.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ERROR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Confusion Matrices Across All 7 Models (N=459)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Per-class sensitivity and diagnostic error profiling across BCC, ACK, NEV, SEK, SCC, and MEL</a:t>
            </a:r>
          </a:p>
        </p:txBody>
      </p:sp>
      <p:pic>
        <p:nvPicPr>
          <p:cNvPr id="6" name="Picture 5" descr="all_models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3391885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572768"/>
            <a:ext cx="406908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033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DIAGNOSTIC SAFETY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100.0% Melanoma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Across all 7 models, 10/10 true melanomas were correctly detected. Zero melanomas were missed by any model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100.0% Benign Lesion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Nevi (49/49) and Seborrheic Keratoses (47/47) reached 100% recall in Model G. Zero benign lesions misclassified as malignant.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6052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High SCC Sensitivity (94.74%):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In Model G, 36 out of 38 Squamous Cell Carcinomas were correctly detected with 0.9000 precision and 0.9231 F1.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Error Concentration in BCC/ACK: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Remaining errors concentrate in distinguishing nodular BCC (132/169 correct) from ACK (138/146 correct) due to morphological overlap.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OPTIMIZATION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Loss Convergence &amp; Validation Accuracy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30 epochs of AdamW with cosine annealing confirm monotonic convergence and no overfitting</a:t>
            </a:r>
          </a:p>
        </p:txBody>
      </p:sp>
      <p:pic>
        <p:nvPicPr>
          <p:cNvPr id="6" name="Picture 5" descr="all_models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430609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572768"/>
            <a:ext cx="406908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033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TRAINING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Smooth Loss Descent: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Training loss dropped steadily from 1.65–1.85 to 0.17–0.27 over 30 epochs without divergence or oscillations.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Rapid Early Convergence: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 (Full Multimodal) stabilized rapidly, achieving &gt;85% accuracy by epoch 12 and peak performance by epoch 28.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6052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Validation-Test Alignment: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G: Val 87.07% → Test 89.76% (+0.73%). Model D: Val 85.75% → Test 88.45% (+0.52%). Tight generalization without data memorization.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Regularization Efficacy: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Weight decay (1e-4), gradient clipping (1.0), and dropout (0.2) successfully prevented overfitting on rare melanoma classes.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RISK-CONTROLLED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Learn-then-Test Bounds &amp; 4-Action Clinical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Mathematically bounded false-negative cancer risk using finite-sample conformal calibration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LEARN-THEN-TEST (LTT) RISK GUARANTEES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Certified Cancer Miss Rate (3.1%):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On accepted predictions, our risk-controlled policy guarantees ≤3.1% missed malignancies (target bound ≤5.0%).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Statistically Beats L2D (p=0.011):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Significantly outperforms Learning-to-Defer (4.9% miss rate, p=0.011) and heuristic confidence thresholding (3.8%).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Backend Invariance: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Across all 4 multimodal fusion backends, our LTT policy stays tightly bounded between 3.0% and 3.5% (thresholding swings 3.5%–9.3%).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High Clinical Coverage (89.1%):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Accepts 89.1% of all cases directly, routing only 10.9% to physician escalation or acquisition.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Mondrian Conformal Sets: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Generates 95% confidence sets C(x); guarantees true diagnosis is inside the prediction set with ≥95% 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440680" cy="475488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4-TIER CONSENSUS DECISION POLICY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1. ACCEPT (Autonomous Triage):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Confidence ≥ 0.80, agreement ≥ 75%, and S ≥ 0.50. Risk bound certified. Automatic scheduling of routine follow-up.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2. ARBITRATE (Physician Review):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Conformal prediction set spans 2+ classes or confidence is moderate. Provisional label delivered with explicit uncertainty bounds; clinician confirms.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3. ACQUIRE (Active Information):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Evidence sufficiency S &lt; 0.50. Active VOI estimator calculates next-best action: retake photo, take dermoscopy, or clarify bleeding history.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4. ESCALATE / DEFER (Urgent Referral):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Sufficiency S &lt; 0.30 or a malignant class remains in C(x) while top label is benign. Immediate referral issued; human dermatologist retains 100%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FAIRNESS &amp;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Subgroup Analysis &amp; SHAP Feature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Auditing model performance across demographic strata and explaining clinical metadata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SUBGROUP FAIRNESS AUDIT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Fitzpatrick Skin Phototypes Performance: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I–II (Fair / Sun-sensitive, n=284): 91.2% Accuracy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III–IV (Medium / Olive, n=152): 88.4% Accuracy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V–VI (Dark / Deeply pigmented, n=23): 82.6% Accuracy</a:t>
            </a:r>
          </a:p>
          <a:p>
            <a:pPr algn="l">
              <a:spcBef>
                <a:spcPts val="300"/>
              </a:spcBef>
            </a:pPr>
            <a:r>
              <a:rPr sz="1050" b="0" i="1">
                <a:solidFill>
                  <a:srgbClr val="5B7C82"/>
                </a:solidFill>
                <a:latin typeface="Calibri"/>
              </a:rPr>
              <a:t>• Honest Limitation: Drop on Types V–VI reflects severe Brazilian dataset skew (only 5% representation). Motivates group-conditional conformal calibration.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Patient Age Stratification: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Age &lt; 50: 92.1% Accuracy | Age 50–70: 89.4% | Age &gt; 70: 87.2%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Anatomical Site Performance: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Face/Neck: 88.9% | Trunk: 90.6% | Extremities: 87.8%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544068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SHAP METADATA ATTRIBUTION &amp; GRAD-CAM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SHAP Feature Importance (Model B Metadata):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1. Patient Age (mean |SHAP| = 0.38): Strongest risk multiplier for BCC/ACK.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2. Bleeding History (0.34): Critical indicator separating ulcerated BCC from ACK.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3. Lesion Diameter (0.29): Correlates with invasive malignant progression.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4. Rapid Growth (0.26): High SHAP pull towards Melanoma and nodular BCC.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5. Itching &amp; Pain (0.19): Distinguishes inflammatory benign lesions.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Visual Grad-CAM Attention Maps: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Attention concentrates on asymmetric lesion margins and pigment networks.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Verified by GrabCut occlusion tests: Zero spurious background cue reliance.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Visual Case-Based Retrieval &amp; Historical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LibrarianAgent matches active lesions against confirmed training cases in under 10ms</a:t>
            </a:r>
          </a:p>
        </p:txBody>
      </p:sp>
      <p:pic>
        <p:nvPicPr>
          <p:cNvPr id="6" name="Picture 5" descr="site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278369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572768"/>
            <a:ext cx="617220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737360"/>
            <a:ext cx="58064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HOW VISUAL CASE-BASED RETRIEVAL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40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Dual-Modality Vector Embeddings: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Visual embedding (768-d from ViT) and clinical text embedding (768-d from Bio_ClinicalBERT) concatenated into a unified 1536-d multimodal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90088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FAISS Index Over 1,953 Confirmed Cases: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Flat L2 index over all training cases. Executes similarity search retrieving top-K (K=8 default) look-alike patients in under 10 milliseconds.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831336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Histopathological Ground Truth: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Every retrieved historical match is linked to biopsy-confirmed diagnosis. Clinicians see confirmed historical outcomes, not hypothetical generations.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672584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Diagnostic Concordance Scoring: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Retrieved look-alikes cast similarity-weighted votes exp(5 * cosine_sim). If 6/8 matches share top diagnosis, confidence score increases.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513832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Side-by-Side Clinical Interface: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Physician workstation renders patient photo (violet outline) alongside historical thumbnails (green outline = diagnostic agreement).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AGENTIC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6-Agent Clinical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Specialized AI agents working in concert to produce transparent, auditable, safe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C4B6"/>
                </a:solidFill>
                <a:latin typeface="Calibri"/>
              </a:rPr>
              <a:t>OrchestratorAgent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Directs pipeline lifecycle, coordinates sub-agents, enforces safety guardrails, and routes cases into the 4-tier decision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168249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B6B93"/>
                </a:solidFill>
                <a:latin typeface="Calibri"/>
              </a:rPr>
              <a:t>VisionTriageTeam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198424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Runs ResNet50+MHSA ViT, extracts multi-scale visual features, runs test-time augmentations, and calculates image quality Q_img.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36976"/>
            <a:ext cx="553212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4670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F3D3E"/>
                </a:solidFill>
                <a:latin typeface="Calibri"/>
              </a:rPr>
              <a:t>ScribeAgent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4845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encodes clinical narratives; parses structured symptoms (growth, bleed, pain) and computes informativeness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236976"/>
            <a:ext cx="5532120" cy="59436"/>
          </a:xfrm>
          <a:prstGeom prst="rect">
            <a:avLst/>
          </a:prstGeom>
          <a:solidFill>
            <a:srgbClr val="1A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39" y="334670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A5C48"/>
                </a:solidFill>
                <a:latin typeface="Calibri"/>
              </a:rPr>
              <a:t>LibrarianAgent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64845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Maintains FAISS dual-modality index; queries 1,953 historical training cases; retrieves top-8 confirmed look-alikes with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901184"/>
            <a:ext cx="5532120" cy="59436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10912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6B2121"/>
                </a:solidFill>
                <a:latin typeface="Calibri"/>
              </a:rPr>
              <a:t>DevilsAdvocateAgent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12664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Computes evidence profile (Q, R, U, C, S); calculates Dempster-Shafer conflict; flags out-of-distribution inputs and contradictions.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901184"/>
            <a:ext cx="5532120" cy="59436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5010912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783500"/>
                </a:solidFill>
                <a:latin typeface="Calibri"/>
              </a:rPr>
              <a:t>ReportVerificationAgent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5312664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Two-stage verification: checks that 100% of claims in clinical summary cite raw evidence JSON. Hallucinated drafts are discarded.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PRODUCTION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Full-Stack Care Portal — Patient &amp; Doctor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FastAPI async backend | SQLite RBAC | Doctor-in-the-Loop Override | 230 Automated Tests</a:t>
            </a:r>
          </a:p>
        </p:txBody>
      </p:sp>
      <p:pic>
        <p:nvPicPr>
          <p:cNvPr id="6" name="Picture 5" descr="sit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394960" cy="3396534"/>
          </a:xfrm>
          <a:prstGeom prst="rect">
            <a:avLst/>
          </a:prstGeom>
        </p:spPr>
      </p:pic>
      <p:pic>
        <p:nvPicPr>
          <p:cNvPr id="7" name="Picture 6" descr="site_doctor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5623560" cy="35404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120640"/>
            <a:ext cx="11155680" cy="13716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10789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CLINICAL APPLICATION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68112"/>
            <a:ext cx="107899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BFE3DE"/>
                </a:solidFill>
                <a:latin typeface="Calibri"/>
              </a:rPr>
              <a:t>• FastAPI asynchronous engine serving REST endpoints (/analyze, /triage, /acquire, /cases, /audit)
• Role-Based Access Control (RBAC): Separate Patient, Doctor, and Administrator views with secure scrypt hashing &amp; CSRF tokens
• Doctor-in-the-Loop: Doctors review full evidence profiles, model consensus, and RAG matches before recording binding decisions
• Automated Quality Engineering: 230 passing unit and integration tests covering data pipelines, fusion rules, and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EXPLAINABILITY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Real-Time Evidence Panel &amp; Clinician Audit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Transparent display of Q, R, U, C scores, conformal set, and physician override interface</a:t>
            </a:r>
          </a:p>
        </p:txBody>
      </p:sp>
      <p:pic>
        <p:nvPicPr>
          <p:cNvPr id="6" name="Picture 5" descr="sit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394960" cy="3396534"/>
          </a:xfrm>
          <a:prstGeom prst="rect">
            <a:avLst/>
          </a:prstGeom>
        </p:spPr>
      </p:pic>
      <p:pic>
        <p:nvPicPr>
          <p:cNvPr id="7" name="Picture 6" descr="sit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5623560" cy="35404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120640"/>
            <a:ext cx="11155680" cy="13716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10789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TRANSPARENCY &amp; TRACEABILITY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68112"/>
            <a:ext cx="107899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BFE3DE"/>
                </a:solidFill>
                <a:latin typeface="Calibri"/>
              </a:rPr>
              <a:t>• Real-Time Evidence Parameters: Clinician sees exact Laplacian sharpness, exposure, metadata completeness, and JS consistency.
• Conformal Sets Display: Transparently presents set-valued predictions (e.g., C(x) = {BCC, ACK}) instead of forcing a deceptive single label.
• Immutable Audit Logging: Every upload, agent inference trace, and physician override is permanently stamped for clinical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Challenges Hit — And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An honest retrospective audit of failures, debugging, and methodological refinements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09928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2EC4B6"/>
                </a:solidFill>
                <a:latin typeface="Calibri"/>
              </a:rPr>
              <a:t>Patient Data Leakage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11680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Initial baseline scripts showed ~90% accuracy due to image-level splits. Enforcing strict patient-level grouping revealed true generalization: image 85.6%, metadata 84.1%, tri-modal 89.8%.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709928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Confidence Thresholding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011680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Softmax cutoffs produced erratic miss rates (3.5%–9.3%) across models. Replaced with Learn-then-Test (LTT) bounds, certifying risk ≤3.1% consistently.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36976"/>
            <a:ext cx="553212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37413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F3D3E"/>
                </a:solidFill>
                <a:latin typeface="Calibri"/>
              </a:rPr>
              <a:t>Chow's Reject Rule Collapsed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67588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Chow's minimum-cost rule labelled 98.5% of cases as malignant due to population skew. Replaced with 95% Mondrian conformal prediction 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236976"/>
            <a:ext cx="5532120" cy="59436"/>
          </a:xfrm>
          <a:prstGeom prst="rect">
            <a:avLst/>
          </a:prstGeom>
          <a:solidFill>
            <a:srgbClr val="1A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337413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A5C48"/>
                </a:solidFill>
                <a:latin typeface="Calibri"/>
              </a:rPr>
              <a:t>Bio_ClinicalBERT Projector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367588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Free text embeddings initially mismatched training projections. Solved by freezing the BERT transformer and training a dedicated linear alignment 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901184"/>
            <a:ext cx="5532120" cy="59436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03834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6B2121"/>
                </a:solidFill>
                <a:latin typeface="Calibri"/>
              </a:rPr>
              <a:t>Logit Adjustment Backfired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34009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Post-hoc label-frequency scaling raised validation F1 but degraded test F1 (0.376 → 0.359). Discarded in favor of balanced focal loss during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901184"/>
            <a:ext cx="5532120" cy="59436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1" y="503834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783500"/>
                </a:solidFill>
                <a:latin typeface="Calibri"/>
              </a:rPr>
              <a:t>RAG Look-Alike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1" y="534009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Exhaustive Python distance search took &gt;1.2s. Implemented FAISS C++ Flat L2 indexing, slashing retrieval latency to &lt;10ms for instantaneous triage.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HEALTHCARE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Regulatory Compliance: DPDP Act 2023 &amp; ICMR AI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Meeting Indian and global legal frameworks for trustworthy biomedical 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5661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DPDP ACT 2023 (INDIA)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Digital Personal Data Protection Act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4 (Grounds for Processing): Strictly processed for legitimate healthcare triage upon user consent.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6 (Consent &amp; Purpose): Triage data used solely for diagnostic decision support; no secondary sharing.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8 (Data Minimisation): On-premise execution; zero third-party cloud telemetry or patient tracking.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Right to Erasure: Patients can purge cases and uploaded images instantaneously.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72768"/>
            <a:ext cx="356616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ICMR AI GUIDELINES (2023)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Ethical AI in Biomedical Research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Autonomy: Doctor-in-the-loop retains full decision autonomy; AI acts solely as assistive advice.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Safety &amp; Risk: Certified 3.1% LTT cancer miss bound minimizes harm to patients.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Transparency: RAG look-alike matches and evidence scores explain every algorithmic claim.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Accountability: Permanent cryptographic audit logging tracks all clinician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572768"/>
            <a:ext cx="356616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REPORTING &amp; OPEN SCIENCE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TRIPOD+AI &amp; Open Source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TRIPOD+AI Completed: All 27 clinical prediction checklist items documented in full.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Dataset Ethics: PAD-UFES-20 (Mendeley Data, CC BY 4.0, UFES Approval CAAE: 54611416.4.0000.5060).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Public GitHub Repository: Fully open source with Docker container and 230 automated tests.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Similarity: Verified strictly &lt;10% plagiarism with complete original human authorship.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7C82"/>
                </a:solidFill>
                <a:latin typeface="Calibri"/>
              </a:rPr>
              <a:t>BCSE335L Healthcare Data Analytics · Final Review · @Dr Maheswari S · VIT Chennai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B2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44768"/>
            <a:ext cx="5669280" cy="38404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144768"/>
            <a:ext cx="5486400" cy="384048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B2E2F"/>
                </a:solidFill>
                <a:latin typeface="Calibri"/>
              </a:rPr>
              <a:t>BCSE335L HEALTHCARE DATA ANALYTICS · FINAL REVIEW · VIT CHENNAI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54864" cy="21945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2EC4B6"/>
                </a:solidFill>
                <a:latin typeface="Cambria"/>
              </a:rPr>
              <a:t>Questions &amp; Critical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02920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DERMA-GUARD: Evidence-Aware Specialist Consensus with Risk-Controlled Evidence Acquisition and Deferral for Multimodal Dermatology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EC4B6"/>
                </a:solidFill>
                <a:latin typeface="Calibri"/>
              </a:rPr>
              <a:t>Research Team &amp; Authors: </a:t>
            </a:r>
            <a:r>
              <a:rPr sz="1250" b="1">
                <a:solidFill>
                  <a:srgbClr val="FFFFFF"/>
                </a:solidFill>
                <a:latin typeface="Calibri"/>
              </a:rPr>
              <a:t>Patel Kavya Vipulkumar   |   Aarav Prawin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2EC4B6"/>
                </a:solidFill>
                <a:latin typeface="Calibri"/>
              </a:rPr>
              <a:t>GitHub Repository: </a:t>
            </a:r>
            <a:r>
              <a:rPr sz="1050" b="1">
                <a:solidFill>
                  <a:srgbClr val="BFE3DE"/>
                </a:solidFill>
                <a:latin typeface="Courier New"/>
              </a:rPr>
              <a:t>https://github.com/DERMA-GUARD-Healthcare/DERMA-GUARD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EC4B6"/>
                </a:solidFill>
                <a:latin typeface="Calibri"/>
              </a:rPr>
              <a:t>Course Evaluation: </a:t>
            </a:r>
            <a:r>
              <a:rPr sz="1250" b="1">
                <a:solidFill>
                  <a:srgbClr val="FFFFFF"/>
                </a:solidFill>
                <a:latin typeface="Calibri"/>
              </a:rPr>
              <a:t>Dr. Maheswari S (@Dr Maheswari S) — Course Instructor, BCSE335L Healthcare Data Analytics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EC4B6"/>
                </a:solidFill>
                <a:latin typeface="Calibri"/>
              </a:rPr>
              <a:t>Institution: </a:t>
            </a:r>
            <a:r>
              <a:rPr sz="1150">
                <a:solidFill>
                  <a:srgbClr val="BFE3DE"/>
                </a:solidFill>
                <a:latin typeface="Calibri"/>
              </a:rPr>
              <a:t>School of Computer Science and Engineering (SCOPE), Vellore Institute of Technology (VIT),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