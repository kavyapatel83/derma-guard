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804" y="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3D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931920"/>
            <a:ext cx="12191695" cy="2926080"/>
          </a:xfrm>
          <a:prstGeom prst="rect">
            <a:avLst/>
          </a:prstGeom>
          <a:solidFill>
            <a:srgbClr val="0B2E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5912" cy="54864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725912" cy="1737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2700" b="1" i="0">
                <a:solidFill>
                  <a:srgbClr val="FFFFFF"/>
                </a:solidFill>
                <a:latin typeface="Cambria"/>
              </a:rPr>
              <a:t>DERMA-GUARD: Evidence-Aware Specialist Consensus with Risk-Controlled Evidence Acquisition and Deferral for Multimodal Dermatology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749039"/>
            <a:ext cx="5394960" cy="2743200"/>
          </a:xfrm>
          <a:prstGeom prst="roundRect">
            <a:avLst/>
          </a:prstGeom>
          <a:solidFill>
            <a:srgbClr val="0F3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3749039"/>
            <a:ext cx="5394960" cy="4572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3886200"/>
            <a:ext cx="5029200" cy="1195199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2000" b="1" i="0" dirty="0">
                <a:solidFill>
                  <a:srgbClr val="2EC4B6"/>
                </a:solidFill>
                <a:latin typeface="Calibri"/>
              </a:rPr>
              <a:t>RESEARCH TEAM &amp; AUTHORS</a:t>
            </a:r>
          </a:p>
          <a:p>
            <a:pPr algn="l">
              <a:spcBef>
                <a:spcPts val="400"/>
              </a:spcBef>
            </a:pPr>
            <a:r>
              <a:rPr sz="2400" b="1" i="0" dirty="0">
                <a:solidFill>
                  <a:srgbClr val="FFFFFF"/>
                </a:solidFill>
                <a:latin typeface="Calibri"/>
              </a:rPr>
              <a:t>• Patel Kavya </a:t>
            </a:r>
            <a:r>
              <a:rPr sz="2400" b="1" i="0" dirty="0" err="1">
                <a:solidFill>
                  <a:srgbClr val="FFFFFF"/>
                </a:solidFill>
                <a:latin typeface="Calibri"/>
              </a:rPr>
              <a:t>Vipulkumar</a:t>
            </a:r>
            <a:r>
              <a:rPr lang="en-IN" sz="2400" b="1" i="0" dirty="0">
                <a:solidFill>
                  <a:srgbClr val="FFFFFF"/>
                </a:solidFill>
                <a:latin typeface="Calibri"/>
              </a:rPr>
              <a:t> (23BDS1076)</a:t>
            </a:r>
            <a:r>
              <a:rPr sz="2400" b="1" i="0" dirty="0">
                <a:solidFill>
                  <a:srgbClr val="FFFFFF"/>
                </a:solidFill>
                <a:latin typeface="Calibri"/>
              </a:rPr>
              <a:t> </a:t>
            </a:r>
            <a:endParaRPr lang="en-IN" sz="2400" b="1" i="0" dirty="0">
              <a:solidFill>
                <a:srgbClr val="FFFFFF"/>
              </a:solidFill>
              <a:latin typeface="Calibri"/>
            </a:endParaRPr>
          </a:p>
          <a:p>
            <a:pPr algn="l">
              <a:spcBef>
                <a:spcPts val="400"/>
              </a:spcBef>
            </a:pPr>
            <a:r>
              <a:rPr sz="2400" b="1" i="0" dirty="0">
                <a:solidFill>
                  <a:srgbClr val="FFFFFF"/>
                </a:solidFill>
                <a:latin typeface="Calibri"/>
              </a:rPr>
              <a:t>• Aarav </a:t>
            </a:r>
            <a:r>
              <a:rPr sz="2400" b="1" i="0" dirty="0" err="1">
                <a:solidFill>
                  <a:srgbClr val="FFFFFF"/>
                </a:solidFill>
                <a:latin typeface="Calibri"/>
              </a:rPr>
              <a:t>Prawin</a:t>
            </a:r>
            <a:r>
              <a:rPr lang="en-IN" sz="2400" b="1" i="0" dirty="0">
                <a:solidFill>
                  <a:srgbClr val="FFFFFF"/>
                </a:solidFill>
                <a:latin typeface="Calibri"/>
              </a:rPr>
              <a:t> (23BDS1116)</a:t>
            </a:r>
            <a:endParaRPr b="0" i="0" dirty="0">
              <a:solidFill>
                <a:srgbClr val="5B7C82"/>
              </a:solidFill>
              <a:latin typeface="Calibr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400800" y="3749039"/>
            <a:ext cx="5056632" cy="2743200"/>
          </a:xfrm>
          <a:prstGeom prst="roundRect">
            <a:avLst/>
          </a:prstGeom>
          <a:solidFill>
            <a:srgbClr val="0F3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0" y="3749039"/>
            <a:ext cx="5056632" cy="4572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0" y="3886200"/>
            <a:ext cx="4690872" cy="902811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400"/>
              </a:spcBef>
            </a:pPr>
            <a:r>
              <a:rPr b="1" i="0" dirty="0">
                <a:solidFill>
                  <a:srgbClr val="2EC4B6"/>
                </a:solidFill>
                <a:latin typeface="Calibri"/>
              </a:rPr>
              <a:t>Public GitHub Repository:</a:t>
            </a:r>
          </a:p>
          <a:p>
            <a:pPr algn="l">
              <a:spcBef>
                <a:spcPts val="200"/>
              </a:spcBef>
            </a:pPr>
            <a:r>
              <a:rPr lang="en-IN" b="1" i="0" dirty="0">
                <a:solidFill>
                  <a:srgbClr val="FFFFFF"/>
                </a:solidFill>
                <a:latin typeface="Courier New"/>
              </a:rPr>
              <a:t>https://github.com/KavyaPatel83/DERMA-GUARD</a:t>
            </a:r>
            <a:endParaRPr b="1" i="0" dirty="0">
              <a:solidFill>
                <a:srgbClr val="FFFFFF"/>
              </a:solidFill>
              <a:latin typeface="Courier New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1B6B93"/>
                </a:solidFill>
                <a:latin typeface="Calibri"/>
              </a:rPr>
              <a:t>CLINICAL CONTEXT &amp; RESEARCH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 i="0">
                <a:solidFill>
                  <a:srgbClr val="0F3D3E"/>
                </a:solidFill>
                <a:latin typeface="Cambria"/>
              </a:rPr>
              <a:t>The Diagnostic Trilemma in Teledermatology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15568"/>
            <a:ext cx="1115568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0" i="1">
                <a:solidFill>
                  <a:srgbClr val="5B7C82"/>
                </a:solidFill>
                <a:latin typeface="Calibri"/>
              </a:rPr>
              <a:t>Why typical deep learning classifiers fail when deployed on real patient smartphone inputs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72768"/>
            <a:ext cx="11155680" cy="1051560"/>
          </a:xfrm>
          <a:prstGeom prst="roundRect">
            <a:avLst/>
          </a:prstGeom>
          <a:solidFill>
            <a:srgbClr val="DC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572768"/>
            <a:ext cx="11155680" cy="59436"/>
          </a:xfrm>
          <a:prstGeom prst="rect">
            <a:avLst/>
          </a:prstGeom>
          <a:solidFill>
            <a:srgbClr val="1B6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85800" y="1755648"/>
            <a:ext cx="384048" cy="384048"/>
          </a:xfrm>
          <a:prstGeom prst="ellipse">
            <a:avLst/>
          </a:prstGeom>
          <a:solidFill>
            <a:srgbClr val="1B6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755648"/>
            <a:ext cx="384048" cy="38404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682496"/>
            <a:ext cx="10241280" cy="868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50" b="1" i="0">
                <a:solidFill>
                  <a:srgbClr val="0F3D3E"/>
                </a:solidFill>
                <a:latin typeface="Calibri"/>
              </a:rPr>
              <a:t>Silent Overconfidence on Corrupted Evidence</a:t>
            </a:r>
          </a:p>
          <a:p>
            <a:pPr algn="l">
              <a:spcBef>
                <a:spcPts val="200"/>
              </a:spcBef>
            </a:pPr>
            <a:r>
              <a:rPr sz="1150" b="0" i="0">
                <a:solidFill>
                  <a:srgbClr val="15262B"/>
                </a:solidFill>
                <a:latin typeface="Calibri"/>
              </a:rPr>
              <a:t>Standard models output high softmax probabilities even when an image is blurred, poorly lit, or occluded. In teledermatology, bad photos count identically to studio dermoscopy, risking dangerous misdiagnoses.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743200"/>
            <a:ext cx="11155680" cy="1051560"/>
          </a:xfrm>
          <a:prstGeom prst="roundRect">
            <a:avLst/>
          </a:prstGeom>
          <a:solidFill>
            <a:srgbClr val="DC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" y="2743200"/>
            <a:ext cx="11155680" cy="59436"/>
          </a:xfrm>
          <a:prstGeom prst="rect">
            <a:avLst/>
          </a:prstGeom>
          <a:solidFill>
            <a:srgbClr val="1B6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85800" y="2926080"/>
            <a:ext cx="384048" cy="384048"/>
          </a:xfrm>
          <a:prstGeom prst="ellipse">
            <a:avLst/>
          </a:prstGeom>
          <a:solidFill>
            <a:srgbClr val="1B6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2926080"/>
            <a:ext cx="384048" cy="38404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852928"/>
            <a:ext cx="10241280" cy="868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50" b="1" i="0">
                <a:solidFill>
                  <a:srgbClr val="0F3D3E"/>
                </a:solidFill>
                <a:latin typeface="Calibri"/>
              </a:rPr>
              <a:t>Rigid Equal-Weight Multimodal Fusion</a:t>
            </a:r>
          </a:p>
          <a:p>
            <a:pPr algn="l">
              <a:spcBef>
                <a:spcPts val="200"/>
              </a:spcBef>
            </a:pPr>
            <a:r>
              <a:rPr sz="1150" b="0" i="0">
                <a:solidFill>
                  <a:srgbClr val="15262B"/>
                </a:solidFill>
                <a:latin typeface="Calibri"/>
              </a:rPr>
              <a:t>Current multimodal networks concatenate visual features, metadata, and symptom text equally. When patient recall is flawed or metadata is incomplete, degraded modalities poison clean signals without dynamic attenuation.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913632"/>
            <a:ext cx="11155680" cy="1051560"/>
          </a:xfrm>
          <a:prstGeom prst="roundRect">
            <a:avLst/>
          </a:prstGeom>
          <a:solidFill>
            <a:srgbClr val="DC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02920" y="3913632"/>
            <a:ext cx="11155680" cy="59436"/>
          </a:xfrm>
          <a:prstGeom prst="rect">
            <a:avLst/>
          </a:prstGeom>
          <a:solidFill>
            <a:srgbClr val="1B6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85800" y="4096512"/>
            <a:ext cx="384048" cy="384048"/>
          </a:xfrm>
          <a:prstGeom prst="ellipse">
            <a:avLst/>
          </a:prstGeom>
          <a:solidFill>
            <a:srgbClr val="1B6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4096512"/>
            <a:ext cx="384048" cy="38404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023360"/>
            <a:ext cx="10241280" cy="868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50" b="1" i="0">
                <a:solidFill>
                  <a:srgbClr val="0F3D3E"/>
                </a:solidFill>
                <a:latin typeface="Calibri"/>
              </a:rPr>
              <a:t>Lack of Certified Missed-Cancer Guarantees</a:t>
            </a:r>
          </a:p>
          <a:p>
            <a:pPr algn="l">
              <a:spcBef>
                <a:spcPts val="200"/>
              </a:spcBef>
            </a:pPr>
            <a:r>
              <a:rPr sz="1150" b="0" i="0">
                <a:solidFill>
                  <a:srgbClr val="15262B"/>
                </a:solidFill>
                <a:latin typeface="Calibri"/>
              </a:rPr>
              <a:t>Conventional selective classification applies arbitrary confidence cutoffs. These rejectors fail to guarantee statistical safety bounds on false-negative cancer rates and fluctuate widely across different neural backbones.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5084064"/>
            <a:ext cx="11155680" cy="1051560"/>
          </a:xfrm>
          <a:prstGeom prst="roundRect">
            <a:avLst/>
          </a:prstGeom>
          <a:solidFill>
            <a:srgbClr val="DC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02920" y="5084064"/>
            <a:ext cx="11155680" cy="59436"/>
          </a:xfrm>
          <a:prstGeom prst="rect">
            <a:avLst/>
          </a:prstGeom>
          <a:solidFill>
            <a:srgbClr val="1B6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85800" y="5266944"/>
            <a:ext cx="384048" cy="384048"/>
          </a:xfrm>
          <a:prstGeom prst="ellipse">
            <a:avLst/>
          </a:prstGeom>
          <a:solidFill>
            <a:srgbClr val="1B6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5800" y="5266944"/>
            <a:ext cx="384048" cy="38404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5193792"/>
            <a:ext cx="10241280" cy="868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50" b="1" i="0">
                <a:solidFill>
                  <a:srgbClr val="0F3D3E"/>
                </a:solidFill>
                <a:latin typeface="Calibri"/>
              </a:rPr>
              <a:t>Black-Box Decisions Without Case Precedents</a:t>
            </a:r>
          </a:p>
          <a:p>
            <a:pPr algn="l">
              <a:spcBef>
                <a:spcPts val="200"/>
              </a:spcBef>
            </a:pPr>
            <a:r>
              <a:rPr sz="1150" b="0" i="0">
                <a:solidFill>
                  <a:srgbClr val="15262B"/>
                </a:solidFill>
                <a:latin typeface="Calibri"/>
              </a:rPr>
              <a:t>Clinicians distrust solitary numerical risk scores. Without transparent evidence breakdowns, look-alike historical cases, and explicit deferral mechanisms, doctors cannot safely triage borderline lesions.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1B6B93"/>
                </a:solidFill>
                <a:latin typeface="Calibri"/>
              </a:rPr>
              <a:t>CORE SCIENTIFIC NOVELTY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 i="0">
                <a:solidFill>
                  <a:srgbClr val="0F3D3E"/>
                </a:solidFill>
                <a:latin typeface="Cambria"/>
              </a:rPr>
              <a:t>Four Foundational Methodological Contributions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15568"/>
            <a:ext cx="1115568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0" i="1">
                <a:solidFill>
                  <a:srgbClr val="5B7C82"/>
                </a:solidFill>
                <a:latin typeface="Calibri"/>
              </a:rPr>
              <a:t>How DERMA-GUARD advances beyond static multimodal deep learning and uncalibrated triage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72768"/>
            <a:ext cx="5532120" cy="2286000"/>
          </a:xfrm>
          <a:prstGeom prst="roundRect">
            <a:avLst/>
          </a:prstGeom>
          <a:solidFill>
            <a:srgbClr val="DC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572768"/>
            <a:ext cx="5532120" cy="59436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85800" y="1755648"/>
            <a:ext cx="384048" cy="384048"/>
          </a:xfrm>
          <a:prstGeom prst="ellipse">
            <a:avLst/>
          </a:prstGeom>
          <a:solidFill>
            <a:srgbClr val="1B6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755648"/>
            <a:ext cx="384048" cy="38404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737360"/>
            <a:ext cx="466344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50" b="1" i="0">
                <a:solidFill>
                  <a:srgbClr val="0F3D3E"/>
                </a:solidFill>
                <a:latin typeface="Calibri"/>
              </a:rPr>
              <a:t>Dynamic Evidence Profiler (Q, R, U, C, 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67128"/>
            <a:ext cx="5166360" cy="1600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20" b="0" i="0">
                <a:solidFill>
                  <a:srgbClr val="15262B"/>
                </a:solidFill>
                <a:latin typeface="Calibri"/>
              </a:rPr>
              <a:t>The first multimodal skin lesion framework to mathematically decouple evidence quality assessment from raw classification. Evaluates image sharpness/contrast (Q), predictive entropy/TTA stability (R), Bayesian disease utility prior (U), and Jensen–Shannon consistency (C). Weights adapt dynamically via iterative prior refinement.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59" y="1572768"/>
            <a:ext cx="5532120" cy="2286000"/>
          </a:xfrm>
          <a:prstGeom prst="roundRect">
            <a:avLst/>
          </a:prstGeom>
          <a:solidFill>
            <a:srgbClr val="DC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09359" y="1572768"/>
            <a:ext cx="5532120" cy="59436"/>
          </a:xfrm>
          <a:prstGeom prst="rect">
            <a:avLst/>
          </a:prstGeom>
          <a:solidFill>
            <a:srgbClr val="1B6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92239" y="1755648"/>
            <a:ext cx="384048" cy="384048"/>
          </a:xfrm>
          <a:prstGeom prst="ellipse">
            <a:avLst/>
          </a:prstGeom>
          <a:solidFill>
            <a:srgbClr val="0F3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92239" y="1755648"/>
            <a:ext cx="384048" cy="38404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59" y="1737360"/>
            <a:ext cx="466344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50" b="1" i="0">
                <a:solidFill>
                  <a:srgbClr val="0F3D3E"/>
                </a:solidFill>
                <a:latin typeface="Calibri"/>
              </a:rPr>
              <a:t>Certified Learn-then-Test (LTT) Risk Bounds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39" y="2167128"/>
            <a:ext cx="5166360" cy="1600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20" b="0" i="0">
                <a:solidFill>
                  <a:srgbClr val="15262B"/>
                </a:solidFill>
                <a:latin typeface="Calibri"/>
              </a:rPr>
              <a:t>Replaces heuristic softmax rejection with distribution-free Learn-then-Test finite-sample risk bounds. Empirically certifies a ≤3.1% missed-cancer rate on accepted cases (p=0.011 vs. baseline Learning-to-Defer), accompanied by 95% Mondrian conformal prediction sets C(x).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995928"/>
            <a:ext cx="5532120" cy="2286000"/>
          </a:xfrm>
          <a:prstGeom prst="roundRect">
            <a:avLst/>
          </a:prstGeom>
          <a:solidFill>
            <a:srgbClr val="DC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02920" y="3995928"/>
            <a:ext cx="5532120" cy="59436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85800" y="4178808"/>
            <a:ext cx="384048" cy="384048"/>
          </a:xfrm>
          <a:prstGeom prst="ellipse">
            <a:avLst/>
          </a:prstGeom>
          <a:solidFill>
            <a:srgbClr val="1B6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4178808"/>
            <a:ext cx="384048" cy="38404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160520"/>
            <a:ext cx="466344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50" b="1" i="0">
                <a:solidFill>
                  <a:srgbClr val="0F3D3E"/>
                </a:solidFill>
                <a:latin typeface="Calibri"/>
              </a:rPr>
              <a:t>Visual &amp; Textual Case RAG (FAISS Index)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590288"/>
            <a:ext cx="5166360" cy="1600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20" b="0" i="0">
                <a:solidFill>
                  <a:srgbClr val="15262B"/>
                </a:solidFill>
                <a:latin typeface="Calibri"/>
              </a:rPr>
              <a:t>Integrates dual-modality FAISS vector search over 1,953 histopathologically verified cases. Retrieves top-8 confirmed historical look-alikes in &lt;10ms, granting dermatologists side-by-side photographic comparison and similarity-weighted diagnostic concordance.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59" y="3995928"/>
            <a:ext cx="5532120" cy="2286000"/>
          </a:xfrm>
          <a:prstGeom prst="roundRect">
            <a:avLst/>
          </a:prstGeom>
          <a:solidFill>
            <a:srgbClr val="DC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309359" y="3995928"/>
            <a:ext cx="5532120" cy="59436"/>
          </a:xfrm>
          <a:prstGeom prst="rect">
            <a:avLst/>
          </a:prstGeom>
          <a:solidFill>
            <a:srgbClr val="1B6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492239" y="4178808"/>
            <a:ext cx="384048" cy="384048"/>
          </a:xfrm>
          <a:prstGeom prst="ellipse">
            <a:avLst/>
          </a:prstGeom>
          <a:solidFill>
            <a:srgbClr val="0F3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92239" y="4178808"/>
            <a:ext cx="384048" cy="38404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95159" y="4160520"/>
            <a:ext cx="466344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50" b="1" i="0">
                <a:solidFill>
                  <a:srgbClr val="0F3D3E"/>
                </a:solidFill>
                <a:latin typeface="Calibri"/>
              </a:rPr>
              <a:t>Active Value-of-Information (VOI) Acquisition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39" y="4590288"/>
            <a:ext cx="5166360" cy="1600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20" b="0" i="0">
                <a:solidFill>
                  <a:srgbClr val="15262B"/>
                </a:solidFill>
                <a:latin typeface="Calibri"/>
              </a:rPr>
              <a:t>When evidence sufficiency is marginal (0.30 ≤ S &lt; 0.50), an automated decision-theoretic engine optimizes clinical diagnostic gain against monetary cost and patient turnaround delay, actively requesting targeted supplementary evidence.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1B6B93"/>
                </a:solidFill>
                <a:latin typeface="Calibri"/>
              </a:rPr>
              <a:t>OBJECTIVES &amp; HYPOTHESES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 i="0">
                <a:solidFill>
                  <a:srgbClr val="0F3D3E"/>
                </a:solidFill>
                <a:latin typeface="Cambria"/>
              </a:rPr>
              <a:t>Formal Research Questions Driving DERMA-GUARD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15568"/>
            <a:ext cx="1115568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0" i="1">
                <a:solidFill>
                  <a:srgbClr val="5B7C82"/>
                </a:solidFill>
                <a:latin typeface="Calibri"/>
              </a:rPr>
              <a:t>Addressing evidence awareness, statistical safety bounds, and explainable clinical grounding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72768"/>
            <a:ext cx="3566160" cy="4754880"/>
          </a:xfrm>
          <a:prstGeom prst="roundRect">
            <a:avLst/>
          </a:prstGeom>
          <a:solidFill>
            <a:srgbClr val="DC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572768"/>
            <a:ext cx="3566160" cy="59436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3200400" cy="4389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 i="0">
                <a:solidFill>
                  <a:srgbClr val="1B6B93"/>
                </a:solidFill>
                <a:latin typeface="Calibri"/>
              </a:rPr>
              <a:t>RESEARCH QUESTION 1</a:t>
            </a:r>
          </a:p>
          <a:p>
            <a:pPr algn="l">
              <a:spcBef>
                <a:spcPts val="400"/>
              </a:spcBef>
            </a:pPr>
            <a:r>
              <a:rPr sz="1600" b="1" i="0">
                <a:solidFill>
                  <a:srgbClr val="0F3D3E"/>
                </a:solidFill>
                <a:latin typeface="Cambria"/>
              </a:rPr>
              <a:t>Evidence-Aware Dynamic Fusion</a:t>
            </a:r>
          </a:p>
          <a:p>
            <a:pPr algn="l">
              <a:spcBef>
                <a:spcPts val="800"/>
              </a:spcBef>
            </a:pPr>
            <a:r>
              <a:rPr sz="1180" b="0" i="0">
                <a:solidFill>
                  <a:srgbClr val="15262B"/>
                </a:solidFill>
                <a:latin typeface="Calibri"/>
              </a:rPr>
              <a:t>How can a system quantitatively assess Quality (Q), Predictive Reliability (R), Clinical Utility (U), and Consistency (C) per input—dynamically downweighting corrupted evidence and gating sufficiency (S)?</a:t>
            </a:r>
          </a:p>
          <a:p>
            <a:pPr algn="l">
              <a:spcBef>
                <a:spcPts val="800"/>
              </a:spcBef>
            </a:pPr>
            <a:r>
              <a:rPr sz="1100" b="1" i="0">
                <a:solidFill>
                  <a:srgbClr val="1A5C48"/>
                </a:solidFill>
                <a:latin typeface="Calibri"/>
              </a:rPr>
              <a:t>Target: Prevent uncalibrated guesses on bad images; trigger active acquisition.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572768"/>
            <a:ext cx="3566160" cy="4754880"/>
          </a:xfrm>
          <a:prstGeom prst="roundRect">
            <a:avLst/>
          </a:prstGeom>
          <a:solidFill>
            <a:srgbClr val="DC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297680" y="1572768"/>
            <a:ext cx="3566160" cy="59436"/>
          </a:xfrm>
          <a:prstGeom prst="rect">
            <a:avLst/>
          </a:prstGeom>
          <a:solidFill>
            <a:srgbClr val="1B6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80560" y="1737360"/>
            <a:ext cx="3200400" cy="4389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 i="0">
                <a:solidFill>
                  <a:srgbClr val="1B6B93"/>
                </a:solidFill>
                <a:latin typeface="Calibri"/>
              </a:rPr>
              <a:t>RESEARCH QUESTION 2</a:t>
            </a:r>
          </a:p>
          <a:p>
            <a:pPr algn="l">
              <a:spcBef>
                <a:spcPts val="400"/>
              </a:spcBef>
            </a:pPr>
            <a:r>
              <a:rPr sz="1600" b="1" i="0">
                <a:solidFill>
                  <a:srgbClr val="0F3D3E"/>
                </a:solidFill>
                <a:latin typeface="Cambria"/>
              </a:rPr>
              <a:t>Conformal Risk-Controlled Bounds</a:t>
            </a:r>
          </a:p>
          <a:p>
            <a:pPr algn="l">
              <a:spcBef>
                <a:spcPts val="800"/>
              </a:spcBef>
            </a:pPr>
            <a:r>
              <a:rPr sz="1180" b="0" i="0">
                <a:solidFill>
                  <a:srgbClr val="15262B"/>
                </a:solidFill>
                <a:latin typeface="Calibri"/>
              </a:rPr>
              <a:t>Can distribution-free conformal calibration and Learn-then-Test (LTT) bounds mathematically certify that the missed-malignancy rate remains below 5%, outperforming classical learning-to-defer baselines?</a:t>
            </a:r>
          </a:p>
          <a:p>
            <a:pPr algn="l">
              <a:spcBef>
                <a:spcPts val="800"/>
              </a:spcBef>
            </a:pPr>
            <a:r>
              <a:rPr sz="1100" b="1" i="0">
                <a:solidFill>
                  <a:srgbClr val="1A5C48"/>
                </a:solidFill>
                <a:latin typeface="Calibri"/>
              </a:rPr>
              <a:t>Target: Certified miss rate ≤ 5% on accepted cases with maximal clinical coverage.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572768"/>
            <a:ext cx="3566160" cy="4754880"/>
          </a:xfrm>
          <a:prstGeom prst="roundRect">
            <a:avLst/>
          </a:prstGeom>
          <a:solidFill>
            <a:srgbClr val="DC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92440" y="1572768"/>
            <a:ext cx="3566160" cy="59436"/>
          </a:xfrm>
          <a:prstGeom prst="rect">
            <a:avLst/>
          </a:prstGeom>
          <a:solidFill>
            <a:srgbClr val="0F3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75320" y="1737360"/>
            <a:ext cx="3200400" cy="4389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 i="0">
                <a:solidFill>
                  <a:srgbClr val="1B6B93"/>
                </a:solidFill>
                <a:latin typeface="Calibri"/>
              </a:rPr>
              <a:t>RESEARCH QUESTION 3</a:t>
            </a:r>
          </a:p>
          <a:p>
            <a:pPr algn="l">
              <a:spcBef>
                <a:spcPts val="400"/>
              </a:spcBef>
            </a:pPr>
            <a:r>
              <a:rPr sz="1600" b="1" i="0">
                <a:solidFill>
                  <a:srgbClr val="0F3D3E"/>
                </a:solidFill>
                <a:latin typeface="Cambria"/>
              </a:rPr>
              <a:t>Case-Based RAG &amp; Privacy</a:t>
            </a:r>
          </a:p>
          <a:p>
            <a:pPr algn="l">
              <a:spcBef>
                <a:spcPts val="800"/>
              </a:spcBef>
            </a:pPr>
            <a:r>
              <a:rPr sz="1180" b="0" i="0">
                <a:solidFill>
                  <a:srgbClr val="15262B"/>
                </a:solidFill>
                <a:latin typeface="Calibri"/>
              </a:rPr>
              <a:t>Can visual case-based retrieval ground multi-agent clinical decision support with verified look-alike cases while complying with India's DPDP Act 2023 and ICMR AI Guidelines?</a:t>
            </a:r>
          </a:p>
          <a:p>
            <a:pPr algn="l">
              <a:spcBef>
                <a:spcPts val="800"/>
              </a:spcBef>
            </a:pPr>
            <a:r>
              <a:rPr sz="1100" b="1" i="0">
                <a:solidFill>
                  <a:srgbClr val="1A5C48"/>
                </a:solidFill>
                <a:latin typeface="Calibri"/>
              </a:rPr>
              <a:t>Target: Top-8 historical confirmed matches in &lt;10ms; zero patient data sharing.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1B6B93"/>
                </a:solidFill>
                <a:latin typeface="Calibri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 i="0">
                <a:solidFill>
                  <a:srgbClr val="0F3D3E"/>
                </a:solidFill>
                <a:latin typeface="Cambria"/>
              </a:rPr>
              <a:t>The DERMA-GUARD Evidence-Governed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15568"/>
            <a:ext cx="1115568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0" i="1">
                <a:solidFill>
                  <a:srgbClr val="5B7C82"/>
                </a:solidFill>
                <a:latin typeface="Calibri"/>
              </a:rPr>
              <a:t>Three clinical inputs feed seven specialized neural models, evidence manager, and 4-tier decision gate</a:t>
            </a:r>
          </a:p>
        </p:txBody>
      </p:sp>
      <p:pic>
        <p:nvPicPr>
          <p:cNvPr id="6" name="Picture 5" descr="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72768"/>
            <a:ext cx="7498079" cy="496549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183879" y="1572768"/>
            <a:ext cx="3474720" cy="4754880"/>
          </a:xfrm>
          <a:prstGeom prst="roundRect">
            <a:avLst/>
          </a:prstGeom>
          <a:solidFill>
            <a:srgbClr val="DC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66760" y="1737360"/>
            <a:ext cx="3108960" cy="4389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1B6B93"/>
                </a:solidFill>
                <a:latin typeface="Calibri"/>
              </a:rPr>
              <a:t>PIPELINE HIGHLIGHTS</a:t>
            </a:r>
          </a:p>
          <a:p>
            <a:pPr algn="l">
              <a:spcBef>
                <a:spcPts val="600"/>
              </a:spcBef>
            </a:pPr>
            <a:r>
              <a:rPr sz="1150" b="1" i="0">
                <a:solidFill>
                  <a:srgbClr val="0F3D3E"/>
                </a:solidFill>
                <a:latin typeface="Calibri"/>
              </a:rPr>
              <a:t>1. Input Modalities:</a:t>
            </a:r>
          </a:p>
          <a:p>
            <a:pPr algn="l">
              <a:spcBef>
                <a:spcPts val="100"/>
              </a:spcBef>
            </a:pPr>
            <a:r>
              <a:rPr sz="1080" b="0" i="0">
                <a:solidFill>
                  <a:srgbClr val="15262B"/>
                </a:solidFill>
                <a:latin typeface="Calibri"/>
              </a:rPr>
              <a:t>Smartphone photo, 26 metadata covariates, and clinical symptom text narrative.</a:t>
            </a:r>
          </a:p>
          <a:p>
            <a:pPr algn="l">
              <a:spcBef>
                <a:spcPts val="600"/>
              </a:spcBef>
            </a:pPr>
            <a:r>
              <a:rPr sz="1150" b="1" i="0">
                <a:solidFill>
                  <a:srgbClr val="0F3D3E"/>
                </a:solidFill>
                <a:latin typeface="Calibri"/>
              </a:rPr>
              <a:t>2. Neural Encoders:</a:t>
            </a:r>
          </a:p>
          <a:p>
            <a:pPr algn="l">
              <a:spcBef>
                <a:spcPts val="100"/>
              </a:spcBef>
            </a:pPr>
            <a:r>
              <a:rPr sz="1080" b="0" i="0">
                <a:solidFill>
                  <a:srgbClr val="15262B"/>
                </a:solidFill>
                <a:latin typeface="Calibri"/>
              </a:rPr>
              <a:t>ResNet50 + MHSA ViT, Residual MetaBlock MLP, and Bio_ClinicalBERT.</a:t>
            </a:r>
          </a:p>
          <a:p>
            <a:pPr algn="l">
              <a:spcBef>
                <a:spcPts val="600"/>
              </a:spcBef>
            </a:pPr>
            <a:r>
              <a:rPr sz="1150" b="1" i="0">
                <a:solidFill>
                  <a:srgbClr val="0F3D3E"/>
                </a:solidFill>
                <a:latin typeface="Calibri"/>
              </a:rPr>
              <a:t>3. Evidence Manager:</a:t>
            </a:r>
          </a:p>
          <a:p>
            <a:pPr algn="l">
              <a:spcBef>
                <a:spcPts val="100"/>
              </a:spcBef>
            </a:pPr>
            <a:r>
              <a:rPr sz="1080" b="0" i="0">
                <a:solidFill>
                  <a:srgbClr val="15262B"/>
                </a:solidFill>
                <a:latin typeface="Calibri"/>
              </a:rPr>
              <a:t>Calculates Q, R, U, C scores. Refines fusion weights via Bayesian iterative prior.</a:t>
            </a:r>
          </a:p>
          <a:p>
            <a:pPr algn="l">
              <a:spcBef>
                <a:spcPts val="600"/>
              </a:spcBef>
            </a:pPr>
            <a:r>
              <a:rPr sz="1150" b="1" i="0">
                <a:solidFill>
                  <a:srgbClr val="0F3D3E"/>
                </a:solidFill>
                <a:latin typeface="Calibri"/>
              </a:rPr>
              <a:t>4. Risk Decision Gate:</a:t>
            </a:r>
          </a:p>
          <a:p>
            <a:pPr algn="l">
              <a:spcBef>
                <a:spcPts val="100"/>
              </a:spcBef>
            </a:pPr>
            <a:r>
              <a:rPr sz="1080" b="0" i="0">
                <a:solidFill>
                  <a:srgbClr val="15262B"/>
                </a:solidFill>
                <a:latin typeface="Calibri"/>
              </a:rPr>
              <a:t>95% Conformal prediction sets + Learn-then-Test (LTT) triage (Accept, Acquire, Arbitrate, Escalate).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1B6B93"/>
                </a:solidFill>
                <a:latin typeface="Calibri"/>
              </a:rPr>
              <a:t>DATASET &amp; COHORT INTEGRITY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 i="0">
                <a:solidFill>
                  <a:srgbClr val="0F3D3E"/>
                </a:solidFill>
                <a:latin typeface="Cambria"/>
              </a:rPr>
              <a:t>PAD-UFES-20 Cohort &amp; Leakage-Free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15568"/>
            <a:ext cx="1115568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0" i="1">
                <a:solidFill>
                  <a:srgbClr val="5B7C82"/>
                </a:solidFill>
                <a:latin typeface="Calibri"/>
              </a:rPr>
              <a:t>Strict patient-disjoint partition (N=2,298 across 1,373 unique patients) prevents optimistic bias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72768"/>
            <a:ext cx="5394960" cy="4754880"/>
          </a:xfrm>
          <a:prstGeom prst="roundRect">
            <a:avLst/>
          </a:prstGeom>
          <a:solidFill>
            <a:srgbClr val="DC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572768"/>
            <a:ext cx="5394960" cy="59436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5029200" cy="4389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1B6B93"/>
                </a:solidFill>
                <a:latin typeface="Calibri"/>
              </a:rPr>
              <a:t>COHORT CHARACTERISTICS</a:t>
            </a:r>
          </a:p>
          <a:p>
            <a:pPr algn="l">
              <a:spcBef>
                <a:spcPts val="600"/>
              </a:spcBef>
            </a:pPr>
            <a:r>
              <a:rPr sz="1120" b="0" i="0">
                <a:solidFill>
                  <a:srgbClr val="15262B"/>
                </a:solidFill>
                <a:latin typeface="Calibri"/>
              </a:rPr>
              <a:t>• Source: Dermatological and Surgical Assistance Program, UFES, Brazil</a:t>
            </a:r>
          </a:p>
          <a:p>
            <a:pPr algn="l">
              <a:spcBef>
                <a:spcPts val="400"/>
              </a:spcBef>
            </a:pPr>
            <a:r>
              <a:rPr sz="1120" b="0" i="0">
                <a:solidFill>
                  <a:srgbClr val="15262B"/>
                </a:solidFill>
                <a:latin typeface="Calibri"/>
              </a:rPr>
              <a:t>• Ethics &amp; License: Mendeley Data (CC BY 4.0), UFES Approval CAAE: 54611416.4.0000.5060</a:t>
            </a:r>
          </a:p>
          <a:p>
            <a:pPr algn="l">
              <a:spcBef>
                <a:spcPts val="400"/>
              </a:spcBef>
            </a:pPr>
            <a:r>
              <a:rPr sz="1120" b="0" i="0">
                <a:solidFill>
                  <a:srgbClr val="15262B"/>
                </a:solidFill>
                <a:latin typeface="Calibri"/>
              </a:rPr>
              <a:t>• Ground Truth: &gt;58% biopsy histopathology; remainder verified by 3-dermatologist panel</a:t>
            </a:r>
          </a:p>
          <a:p>
            <a:pPr algn="l">
              <a:spcBef>
                <a:spcPts val="600"/>
              </a:spcBef>
            </a:pPr>
            <a:r>
              <a:rPr sz="1120" b="1" i="0">
                <a:solidFill>
                  <a:srgbClr val="0F3D3E"/>
                </a:solidFill>
                <a:latin typeface="Calibri"/>
              </a:rPr>
              <a:t>• Total Size: 2,298 smartphone photos with 26 clinical covariates across 6 diagnostic classes:</a:t>
            </a:r>
          </a:p>
          <a:p>
            <a:pPr algn="l">
              <a:spcBef>
                <a:spcPts val="200"/>
              </a:spcBef>
            </a:pPr>
            <a:r>
              <a:rPr sz="1050" b="0" i="0">
                <a:solidFill>
                  <a:srgbClr val="15262B"/>
                </a:solidFill>
                <a:latin typeface="Calibri"/>
              </a:rPr>
              <a:t>   - Basal Cell Carcinoma (BCC): 845 cases (Malignant)</a:t>
            </a:r>
          </a:p>
          <a:p>
            <a:pPr algn="l">
              <a:spcBef>
                <a:spcPts val="100"/>
              </a:spcBef>
            </a:pPr>
            <a:r>
              <a:rPr sz="1050" b="0" i="0">
                <a:solidFill>
                  <a:srgbClr val="15262B"/>
                </a:solidFill>
                <a:latin typeface="Calibri"/>
              </a:rPr>
              <a:t>   - Actinic Keratosis (ACK): 730 cases (Pre-cancerous)</a:t>
            </a:r>
          </a:p>
          <a:p>
            <a:pPr algn="l">
              <a:spcBef>
                <a:spcPts val="100"/>
              </a:spcBef>
            </a:pPr>
            <a:r>
              <a:rPr sz="1050" b="0" i="0">
                <a:solidFill>
                  <a:srgbClr val="15262B"/>
                </a:solidFill>
                <a:latin typeface="Calibri"/>
              </a:rPr>
              <a:t>   - Melanocytic Nevus (NEV): 244 cases (Benign)</a:t>
            </a:r>
          </a:p>
          <a:p>
            <a:pPr algn="l">
              <a:spcBef>
                <a:spcPts val="100"/>
              </a:spcBef>
            </a:pPr>
            <a:r>
              <a:rPr sz="1050" b="0" i="0">
                <a:solidFill>
                  <a:srgbClr val="15262B"/>
                </a:solidFill>
                <a:latin typeface="Calibri"/>
              </a:rPr>
              <a:t>   - Seborrheic Keratosis (SEK): 235 cases (Benign)</a:t>
            </a:r>
          </a:p>
          <a:p>
            <a:pPr algn="l">
              <a:spcBef>
                <a:spcPts val="100"/>
              </a:spcBef>
            </a:pPr>
            <a:r>
              <a:rPr sz="1050" b="0" i="0">
                <a:solidFill>
                  <a:srgbClr val="15262B"/>
                </a:solidFill>
                <a:latin typeface="Calibri"/>
              </a:rPr>
              <a:t>   - Squamous Cell Carcinoma (SCC): 192 cases (Malignant)</a:t>
            </a:r>
          </a:p>
          <a:p>
            <a:pPr algn="l">
              <a:spcBef>
                <a:spcPts val="100"/>
              </a:spcBef>
            </a:pPr>
            <a:r>
              <a:rPr sz="1050" b="1" i="0">
                <a:solidFill>
                  <a:srgbClr val="6B2121"/>
                </a:solidFill>
                <a:latin typeface="Calibri"/>
              </a:rPr>
              <a:t>   - Malignant Melanoma (MEL): 52 cases (Highly Malignant)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572768"/>
            <a:ext cx="5486400" cy="4754880"/>
          </a:xfrm>
          <a:prstGeom prst="roundRect">
            <a:avLst/>
          </a:prstGeom>
          <a:solidFill>
            <a:srgbClr val="0F3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55080" y="1737360"/>
            <a:ext cx="5120640" cy="4389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 i="0">
                <a:solidFill>
                  <a:srgbClr val="2EC4B6"/>
                </a:solidFill>
                <a:latin typeface="Calibri"/>
              </a:rPr>
              <a:t>NO-DATA-LEAKAGE AUDIT &amp; PROTOCOL</a:t>
            </a:r>
          </a:p>
          <a:p>
            <a:pPr algn="l">
              <a:spcBef>
                <a:spcPts val="400"/>
              </a:spcBef>
            </a:pPr>
            <a:r>
              <a:rPr sz="1500" b="1" i="0">
                <a:solidFill>
                  <a:srgbClr val="FFFFFF"/>
                </a:solidFill>
                <a:latin typeface="Cambria"/>
              </a:rPr>
              <a:t>The Patient-Level Disjoint Split Rule</a:t>
            </a:r>
          </a:p>
          <a:p>
            <a:pPr algn="l">
              <a:spcBef>
                <a:spcPts val="400"/>
              </a:spcBef>
            </a:pPr>
            <a:r>
              <a:rPr sz="1100" b="0" i="0">
                <a:solidFill>
                  <a:srgbClr val="BFE3DE"/>
                </a:solidFill>
                <a:latin typeface="Calibri"/>
              </a:rPr>
              <a:t>Legacy baseline scripts often split by image, leaking multiple lesions from the same patient across train and test partitions and falsely inflating accuracy.</a:t>
            </a:r>
          </a:p>
          <a:p>
            <a:pPr algn="l">
              <a:spcBef>
                <a:spcPts val="600"/>
              </a:spcBef>
            </a:pPr>
            <a:r>
              <a:rPr sz="1150" b="1" i="0">
                <a:solidFill>
                  <a:srgbClr val="FFFFFF"/>
                </a:solidFill>
                <a:latin typeface="Calibri"/>
              </a:rPr>
              <a:t>Our Enforced Patient Split (Grouped by patient_id, seed=42):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FFFFFF"/>
                </a:solidFill>
                <a:latin typeface="Calibri"/>
              </a:rPr>
              <a:t>• Train Set: 1,953 instances (85.0% of cohort)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FFFFFF"/>
                </a:solidFill>
                <a:latin typeface="Calibri"/>
              </a:rPr>
              <a:t>• Val / Calibration Set: 229 instances (10.0% of cohort)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FFFFFF"/>
                </a:solidFill>
                <a:latin typeface="Calibri"/>
              </a:rPr>
              <a:t>• Held-Out Test Set: 459 instances (20.0% patients): 169 BCC, 146 ACK, 49 NEV, 47 SEK, 38 SCC, 10 MEL</a:t>
            </a:r>
          </a:p>
          <a:p>
            <a:pPr algn="l">
              <a:spcBef>
                <a:spcPts val="600"/>
              </a:spcBef>
            </a:pPr>
            <a:r>
              <a:rPr sz="1100" b="1" i="0">
                <a:solidFill>
                  <a:srgbClr val="2EC4B6"/>
                </a:solidFill>
                <a:latin typeface="Calibri"/>
              </a:rPr>
              <a:t>• Transformers &amp; Scalers: Fitted strictly on training partition only. No target or feature leak.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1B6B93"/>
                </a:solidFill>
                <a:latin typeface="Calibri"/>
              </a:rPr>
              <a:t>SYSTEMATIC EXPERIMENTAL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 i="0">
                <a:solidFill>
                  <a:srgbClr val="0F3D3E"/>
                </a:solidFill>
                <a:latin typeface="Cambria"/>
              </a:rPr>
              <a:t>The 7 Benchmark Models Ladder (Models A Through 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15568"/>
            <a:ext cx="1115568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0" i="1">
                <a:solidFill>
                  <a:srgbClr val="5B7C82"/>
                </a:solidFill>
                <a:latin typeface="Calibri"/>
              </a:rPr>
              <a:t>Evaluating every mathematical subset of modalities on identical held-out test partition (N=459)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72768"/>
            <a:ext cx="822960" cy="566928"/>
          </a:xfrm>
          <a:prstGeom prst="rect">
            <a:avLst/>
          </a:prstGeom>
          <a:solidFill>
            <a:srgbClr val="0F3D3E"/>
          </a:solidFill>
          <a:ln w="9525">
            <a:solidFill>
              <a:srgbClr val="BF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072" y="1664208"/>
            <a:ext cx="676656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1325880" y="1572768"/>
            <a:ext cx="1920240" cy="566928"/>
          </a:xfrm>
          <a:prstGeom prst="rect">
            <a:avLst/>
          </a:prstGeom>
          <a:solidFill>
            <a:srgbClr val="0F3D3E"/>
          </a:solidFill>
          <a:ln w="9525">
            <a:solidFill>
              <a:srgbClr val="BF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99032" y="1664208"/>
            <a:ext cx="1773936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Input Modalities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1572768"/>
            <a:ext cx="3657600" cy="566928"/>
          </a:xfrm>
          <a:prstGeom prst="rect">
            <a:avLst/>
          </a:prstGeom>
          <a:solidFill>
            <a:srgbClr val="0F3D3E"/>
          </a:solidFill>
          <a:ln w="9525">
            <a:solidFill>
              <a:srgbClr val="BF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19272" y="1664208"/>
            <a:ext cx="3511296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Neural Architecture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03720" y="1572768"/>
            <a:ext cx="1005840" cy="566928"/>
          </a:xfrm>
          <a:prstGeom prst="rect">
            <a:avLst/>
          </a:prstGeom>
          <a:solidFill>
            <a:srgbClr val="0F3D3E"/>
          </a:solidFill>
          <a:ln w="9525">
            <a:solidFill>
              <a:srgbClr val="BF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976872" y="1664208"/>
            <a:ext cx="859536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Test Acc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09560" y="1572768"/>
            <a:ext cx="3657600" cy="566928"/>
          </a:xfrm>
          <a:prstGeom prst="rect">
            <a:avLst/>
          </a:prstGeom>
          <a:solidFill>
            <a:srgbClr val="0F3D3E"/>
          </a:solidFill>
          <a:ln w="9525">
            <a:solidFill>
              <a:srgbClr val="BF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982712" y="1664208"/>
            <a:ext cx="3511296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Primary Diagnostic Role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139696"/>
            <a:ext cx="8229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F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76072" y="2231136"/>
            <a:ext cx="676656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15262B"/>
                </a:solidFill>
                <a:latin typeface="Calibri"/>
              </a:rPr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25880" y="2139696"/>
            <a:ext cx="19202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F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399032" y="2231136"/>
            <a:ext cx="1773936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15262B"/>
                </a:solidFill>
                <a:latin typeface="Calibri"/>
              </a:rPr>
              <a:t>Image Only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46120" y="2139696"/>
            <a:ext cx="36576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F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319272" y="2231136"/>
            <a:ext cx="3511296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15262B"/>
                </a:solidFill>
                <a:latin typeface="Calibri"/>
              </a:rPr>
              <a:t>ResNet50 + Multi-Head Self-Attention ViT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03720" y="2139696"/>
            <a:ext cx="1005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F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976872" y="2231136"/>
            <a:ext cx="859536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15262B"/>
                </a:solidFill>
                <a:latin typeface="Calibri"/>
              </a:rPr>
              <a:t>85.62%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09560" y="2139696"/>
            <a:ext cx="36576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F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982712" y="2231136"/>
            <a:ext cx="3511296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15262B"/>
                </a:solidFill>
                <a:latin typeface="Calibri"/>
              </a:rPr>
              <a:t>Visual lesion morphology baseline (393/459)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2706624"/>
            <a:ext cx="822960" cy="566928"/>
          </a:xfrm>
          <a:prstGeom prst="rect">
            <a:avLst/>
          </a:prstGeom>
          <a:solidFill>
            <a:srgbClr val="DCF4F1"/>
          </a:solidFill>
          <a:ln w="9525">
            <a:solidFill>
              <a:srgbClr val="BF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76072" y="2798064"/>
            <a:ext cx="676656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15262B"/>
                </a:solidFill>
                <a:latin typeface="Calibri"/>
              </a:rPr>
              <a:t>B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325880" y="2706624"/>
            <a:ext cx="1920240" cy="566928"/>
          </a:xfrm>
          <a:prstGeom prst="rect">
            <a:avLst/>
          </a:prstGeom>
          <a:solidFill>
            <a:srgbClr val="DCF4F1"/>
          </a:solidFill>
          <a:ln w="9525">
            <a:solidFill>
              <a:srgbClr val="BF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399032" y="2798064"/>
            <a:ext cx="1773936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15262B"/>
                </a:solidFill>
                <a:latin typeface="Calibri"/>
              </a:rPr>
              <a:t>Metadata Only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46120" y="2706624"/>
            <a:ext cx="3657600" cy="566928"/>
          </a:xfrm>
          <a:prstGeom prst="rect">
            <a:avLst/>
          </a:prstGeom>
          <a:solidFill>
            <a:srgbClr val="DCF4F1"/>
          </a:solidFill>
          <a:ln w="9525">
            <a:solidFill>
              <a:srgbClr val="BF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319272" y="2798064"/>
            <a:ext cx="3511296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15262B"/>
                </a:solidFill>
                <a:latin typeface="Calibri"/>
              </a:rPr>
              <a:t>3-Layer Residual MetaBlock MLP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03720" y="2706624"/>
            <a:ext cx="1005840" cy="566928"/>
          </a:xfrm>
          <a:prstGeom prst="rect">
            <a:avLst/>
          </a:prstGeom>
          <a:solidFill>
            <a:srgbClr val="DCF4F1"/>
          </a:solidFill>
          <a:ln w="9525">
            <a:solidFill>
              <a:srgbClr val="BF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976872" y="2798064"/>
            <a:ext cx="859536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15262B"/>
                </a:solidFill>
                <a:latin typeface="Calibri"/>
              </a:rPr>
              <a:t>84.10%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09560" y="2706624"/>
            <a:ext cx="3657600" cy="566928"/>
          </a:xfrm>
          <a:prstGeom prst="rect">
            <a:avLst/>
          </a:prstGeom>
          <a:solidFill>
            <a:srgbClr val="DCF4F1"/>
          </a:solidFill>
          <a:ln w="9525">
            <a:solidFill>
              <a:srgbClr val="BF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982712" y="2798064"/>
            <a:ext cx="3511296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15262B"/>
                </a:solidFill>
                <a:latin typeface="Calibri"/>
              </a:rPr>
              <a:t>Demographic &amp; clinical history baseline (386/459)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3273552"/>
            <a:ext cx="8229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F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76072" y="3364992"/>
            <a:ext cx="676656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15262B"/>
                </a:solidFill>
                <a:latin typeface="Calibri"/>
              </a:rPr>
              <a:t>C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325880" y="3273552"/>
            <a:ext cx="19202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F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399032" y="3364992"/>
            <a:ext cx="1773936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15262B"/>
                </a:solidFill>
                <a:latin typeface="Calibri"/>
              </a:rPr>
              <a:t>Free Text Only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46120" y="3273552"/>
            <a:ext cx="36576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F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319272" y="3364992"/>
            <a:ext cx="3511296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15262B"/>
                </a:solidFill>
                <a:latin typeface="Calibri"/>
              </a:rPr>
              <a:t>Bio_ClinicalBERT (768-d mean pooled)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903720" y="3273552"/>
            <a:ext cx="1005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F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976872" y="3364992"/>
            <a:ext cx="859536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15262B"/>
                </a:solidFill>
                <a:latin typeface="Calibri"/>
              </a:rPr>
              <a:t>83.44%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909560" y="3273552"/>
            <a:ext cx="36576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F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982712" y="3364992"/>
            <a:ext cx="3511296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15262B"/>
                </a:solidFill>
                <a:latin typeface="Calibri"/>
              </a:rPr>
              <a:t>NLP symptom narrative baseline (383/459)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3840480"/>
            <a:ext cx="822960" cy="566928"/>
          </a:xfrm>
          <a:prstGeom prst="rect">
            <a:avLst/>
          </a:prstGeom>
          <a:solidFill>
            <a:srgbClr val="DCF4F1"/>
          </a:solidFill>
          <a:ln w="9525">
            <a:solidFill>
              <a:srgbClr val="BF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76072" y="3931920"/>
            <a:ext cx="676656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15262B"/>
                </a:solidFill>
                <a:latin typeface="Calibri"/>
              </a:rPr>
              <a:t>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325880" y="3840480"/>
            <a:ext cx="1920240" cy="566928"/>
          </a:xfrm>
          <a:prstGeom prst="rect">
            <a:avLst/>
          </a:prstGeom>
          <a:solidFill>
            <a:srgbClr val="DCF4F1"/>
          </a:solidFill>
          <a:ln w="9525">
            <a:solidFill>
              <a:srgbClr val="BF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399032" y="3931920"/>
            <a:ext cx="1773936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15262B"/>
                </a:solidFill>
                <a:latin typeface="Calibri"/>
              </a:rPr>
              <a:t>Image + Metadata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46120" y="3840480"/>
            <a:ext cx="3657600" cy="566928"/>
          </a:xfrm>
          <a:prstGeom prst="rect">
            <a:avLst/>
          </a:prstGeom>
          <a:solidFill>
            <a:srgbClr val="DCF4F1"/>
          </a:solidFill>
          <a:ln w="9525">
            <a:solidFill>
              <a:srgbClr val="BF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319272" y="3931920"/>
            <a:ext cx="3511296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15262B"/>
                </a:solidFill>
                <a:latin typeface="Calibri"/>
              </a:rPr>
              <a:t>ViT + MetaBlock MLP late concatenation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03720" y="3840480"/>
            <a:ext cx="1005840" cy="566928"/>
          </a:xfrm>
          <a:prstGeom prst="rect">
            <a:avLst/>
          </a:prstGeom>
          <a:solidFill>
            <a:srgbClr val="DCF4F1"/>
          </a:solidFill>
          <a:ln w="9525">
            <a:solidFill>
              <a:srgbClr val="BF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976872" y="3931920"/>
            <a:ext cx="859536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15262B"/>
                </a:solidFill>
                <a:latin typeface="Calibri"/>
              </a:rPr>
              <a:t>88.45%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909560" y="3840480"/>
            <a:ext cx="3657600" cy="566928"/>
          </a:xfrm>
          <a:prstGeom prst="rect">
            <a:avLst/>
          </a:prstGeom>
          <a:solidFill>
            <a:srgbClr val="DCF4F1"/>
          </a:solidFill>
          <a:ln w="9525">
            <a:solidFill>
              <a:srgbClr val="BF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982712" y="3931920"/>
            <a:ext cx="3511296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15262B"/>
                </a:solidFill>
                <a:latin typeface="Calibri"/>
              </a:rPr>
              <a:t>Visual-demographic synergy (Top AUROC 0.9994)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02920" y="4407408"/>
            <a:ext cx="8229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F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576072" y="4498848"/>
            <a:ext cx="676656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15262B"/>
                </a:solidFill>
                <a:latin typeface="Calibri"/>
              </a:rPr>
              <a:t>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25880" y="4407408"/>
            <a:ext cx="19202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F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1399032" y="4498848"/>
            <a:ext cx="1773936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15262B"/>
                </a:solidFill>
                <a:latin typeface="Calibri"/>
              </a:rPr>
              <a:t>Image + Text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246120" y="4407408"/>
            <a:ext cx="36576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F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3319272" y="4498848"/>
            <a:ext cx="3511296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15262B"/>
                </a:solidFill>
                <a:latin typeface="Calibri"/>
              </a:rPr>
              <a:t>ViT + Bio_ClinicalBERT late concatenation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903720" y="4407408"/>
            <a:ext cx="1005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F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976872" y="4498848"/>
            <a:ext cx="859536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15262B"/>
                </a:solidFill>
                <a:latin typeface="Calibri"/>
              </a:rPr>
              <a:t>88.02%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909560" y="4407408"/>
            <a:ext cx="36576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F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7982712" y="4498848"/>
            <a:ext cx="3511296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15262B"/>
                </a:solidFill>
                <a:latin typeface="Calibri"/>
              </a:rPr>
              <a:t>Visual-narrative synergy (Top Precision 0.8350)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02920" y="4974336"/>
            <a:ext cx="822960" cy="566928"/>
          </a:xfrm>
          <a:prstGeom prst="rect">
            <a:avLst/>
          </a:prstGeom>
          <a:solidFill>
            <a:srgbClr val="DCF4F1"/>
          </a:solidFill>
          <a:ln w="9525">
            <a:solidFill>
              <a:srgbClr val="BF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576072" y="5065776"/>
            <a:ext cx="676656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15262B"/>
                </a:solidFill>
                <a:latin typeface="Calibri"/>
              </a:rPr>
              <a:t>F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325880" y="4974336"/>
            <a:ext cx="1920240" cy="566928"/>
          </a:xfrm>
          <a:prstGeom prst="rect">
            <a:avLst/>
          </a:prstGeom>
          <a:solidFill>
            <a:srgbClr val="DCF4F1"/>
          </a:solidFill>
          <a:ln w="9525">
            <a:solidFill>
              <a:srgbClr val="BF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1399032" y="5065776"/>
            <a:ext cx="1773936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15262B"/>
                </a:solidFill>
                <a:latin typeface="Calibri"/>
              </a:rPr>
              <a:t>Metadata + Text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246120" y="4974336"/>
            <a:ext cx="3657600" cy="566928"/>
          </a:xfrm>
          <a:prstGeom prst="rect">
            <a:avLst/>
          </a:prstGeom>
          <a:solidFill>
            <a:srgbClr val="DCF4F1"/>
          </a:solidFill>
          <a:ln w="9525">
            <a:solidFill>
              <a:srgbClr val="BF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3319272" y="5065776"/>
            <a:ext cx="3511296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15262B"/>
                </a:solidFill>
                <a:latin typeface="Calibri"/>
              </a:rPr>
              <a:t>Bio_ClinicalBERT + MetaBlock MLP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903720" y="4974336"/>
            <a:ext cx="1005840" cy="566928"/>
          </a:xfrm>
          <a:prstGeom prst="rect">
            <a:avLst/>
          </a:prstGeom>
          <a:solidFill>
            <a:srgbClr val="DCF4F1"/>
          </a:solidFill>
          <a:ln w="9525">
            <a:solidFill>
              <a:srgbClr val="BF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6976872" y="5065776"/>
            <a:ext cx="859536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15262B"/>
                </a:solidFill>
                <a:latin typeface="Calibri"/>
              </a:rPr>
              <a:t>87.36%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909560" y="4974336"/>
            <a:ext cx="3657600" cy="566928"/>
          </a:xfrm>
          <a:prstGeom prst="rect">
            <a:avLst/>
          </a:prstGeom>
          <a:solidFill>
            <a:srgbClr val="DCF4F1"/>
          </a:solidFill>
          <a:ln w="9525">
            <a:solidFill>
              <a:srgbClr val="BF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7982712" y="5065776"/>
            <a:ext cx="3511296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15262B"/>
                </a:solidFill>
                <a:latin typeface="Calibri"/>
              </a:rPr>
              <a:t>Non-imaging telemedicine consultation (401/459)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02920" y="5541264"/>
            <a:ext cx="822960" cy="566928"/>
          </a:xfrm>
          <a:prstGeom prst="rect">
            <a:avLst/>
          </a:prstGeom>
          <a:solidFill>
            <a:srgbClr val="CCF0EB"/>
          </a:solidFill>
          <a:ln w="9525">
            <a:solidFill>
              <a:srgbClr val="BF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576072" y="5632704"/>
            <a:ext cx="676656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 i="0">
                <a:solidFill>
                  <a:srgbClr val="1B6B93"/>
                </a:solidFill>
                <a:latin typeface="Calibri"/>
              </a:rPr>
              <a:t>G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325880" y="5541264"/>
            <a:ext cx="1920240" cy="566928"/>
          </a:xfrm>
          <a:prstGeom prst="rect">
            <a:avLst/>
          </a:prstGeom>
          <a:solidFill>
            <a:srgbClr val="CCF0EB"/>
          </a:solidFill>
          <a:ln w="9525">
            <a:solidFill>
              <a:srgbClr val="BF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1399032" y="5632704"/>
            <a:ext cx="1773936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 i="0">
                <a:solidFill>
                  <a:srgbClr val="1B6B93"/>
                </a:solidFill>
                <a:latin typeface="Calibri"/>
              </a:rPr>
              <a:t>Full Tri-Modal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246120" y="5541264"/>
            <a:ext cx="3657600" cy="566928"/>
          </a:xfrm>
          <a:prstGeom prst="rect">
            <a:avLst/>
          </a:prstGeom>
          <a:solidFill>
            <a:srgbClr val="CCF0EB"/>
          </a:solidFill>
          <a:ln w="9525">
            <a:solidFill>
              <a:srgbClr val="BF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3319272" y="5632704"/>
            <a:ext cx="3511296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 i="0">
                <a:solidFill>
                  <a:srgbClr val="1B6B93"/>
                </a:solidFill>
                <a:latin typeface="Calibri"/>
              </a:rPr>
              <a:t>ViT + MetaBlock MLP + Bio_ClinicalBERT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903720" y="5541264"/>
            <a:ext cx="1005840" cy="566928"/>
          </a:xfrm>
          <a:prstGeom prst="rect">
            <a:avLst/>
          </a:prstGeom>
          <a:solidFill>
            <a:srgbClr val="CCF0EB"/>
          </a:solidFill>
          <a:ln w="9525">
            <a:solidFill>
              <a:srgbClr val="BF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6976872" y="5632704"/>
            <a:ext cx="859536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 i="0">
                <a:solidFill>
                  <a:srgbClr val="1B6B93"/>
                </a:solidFill>
                <a:latin typeface="Calibri"/>
              </a:rPr>
              <a:t>89.76%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909560" y="5541264"/>
            <a:ext cx="3657600" cy="566928"/>
          </a:xfrm>
          <a:prstGeom prst="rect">
            <a:avLst/>
          </a:prstGeom>
          <a:solidFill>
            <a:srgbClr val="CCF0EB"/>
          </a:solidFill>
          <a:ln w="9525">
            <a:solidFill>
              <a:srgbClr val="BF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7982712" y="5632704"/>
            <a:ext cx="3511296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 i="0">
                <a:solidFill>
                  <a:srgbClr val="1B6B93"/>
                </a:solidFill>
                <a:latin typeface="Calibri"/>
              </a:rPr>
              <a:t>TOP PERFORMANCE — 89.76% Acc &amp; 0.9456 Sensitivity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1B6B93"/>
                </a:solidFill>
                <a:latin typeface="Calibri"/>
              </a:rPr>
              <a:t>RESULTS — COMPREHENSIVE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 i="0">
                <a:solidFill>
                  <a:srgbClr val="0F3D3E"/>
                </a:solidFill>
                <a:latin typeface="Cambria"/>
              </a:rPr>
              <a:t>Master Scorecard: All 7 Models Evaluated on PAD-UFES-20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15568"/>
            <a:ext cx="1115568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0" i="1">
                <a:solidFill>
                  <a:srgbClr val="5B7C82"/>
                </a:solidFill>
                <a:latin typeface="Calibri"/>
              </a:rPr>
              <a:t>Held-out test partition (N=459) | 30 epochs | AdamW with cosine annealing</a:t>
            </a:r>
          </a:p>
        </p:txBody>
      </p:sp>
      <p:pic>
        <p:nvPicPr>
          <p:cNvPr id="6" name="Picture 5" descr="models_master_score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72768"/>
            <a:ext cx="11155680" cy="398862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1B6B93"/>
                </a:solidFill>
                <a:latin typeface="Calibri"/>
              </a:rPr>
              <a:t>RESULTS — PERFORMANCE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 i="0">
                <a:solidFill>
                  <a:srgbClr val="0F3D3E"/>
                </a:solidFill>
                <a:latin typeface="Cambria"/>
              </a:rPr>
              <a:t>Modality Synergy &amp; Incremental Diagnostic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15568"/>
            <a:ext cx="1115568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0" i="1">
                <a:solidFill>
                  <a:srgbClr val="5B7C82"/>
                </a:solidFill>
                <a:latin typeface="Calibri"/>
              </a:rPr>
              <a:t>Quantifying exact gains contributed by visual morphology, patient metadata, and symptom narratives</a:t>
            </a:r>
          </a:p>
        </p:txBody>
      </p:sp>
      <p:pic>
        <p:nvPicPr>
          <p:cNvPr id="6" name="Picture 5" descr="models_comparison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72768"/>
            <a:ext cx="7040880" cy="349315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0" y="1572768"/>
            <a:ext cx="3886200" cy="4892040"/>
          </a:xfrm>
          <a:prstGeom prst="roundRect">
            <a:avLst/>
          </a:prstGeom>
          <a:solidFill>
            <a:srgbClr val="DC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55279" y="1737360"/>
            <a:ext cx="352044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1B6B93"/>
                </a:solidFill>
                <a:latin typeface="Calibri"/>
              </a:rPr>
              <a:t>INCREMENTAL VALUE ANALYSIS (FROM saved_models)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2148840"/>
            <a:ext cx="3520440" cy="8229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1" i="0">
                <a:solidFill>
                  <a:srgbClr val="0F3D3E"/>
                </a:solidFill>
                <a:latin typeface="Calibri"/>
              </a:rPr>
              <a:t>Adding Metadata (+2.83%):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15262B"/>
                </a:solidFill>
                <a:latin typeface="Calibri"/>
              </a:rPr>
              <a:t>Adding patient metadata to image (A → D) lifted accuracy from 85.62% to 88.45% and boosted AUROC to 0.9994.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3017520"/>
            <a:ext cx="3520440" cy="8229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1" i="0">
                <a:solidFill>
                  <a:srgbClr val="0F3D3E"/>
                </a:solidFill>
                <a:latin typeface="Calibri"/>
              </a:rPr>
              <a:t>Adding Clinical Text (+2.40%):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15262B"/>
                </a:solidFill>
                <a:latin typeface="Calibri"/>
              </a:rPr>
              <a:t>Adding symptom narratives to image (A → E) boosted accuracy from 85.62% to 88.02% and sensitivity to 0.9413.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3886200"/>
            <a:ext cx="3520440" cy="8229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1" i="0">
                <a:solidFill>
                  <a:srgbClr val="0F3D3E"/>
                </a:solidFill>
                <a:latin typeface="Calibri"/>
              </a:rPr>
              <a:t>Full Multimodal Synergy (+4.14%):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15262B"/>
                </a:solidFill>
                <a:latin typeface="Calibri"/>
              </a:rPr>
              <a:t>Combining all three modalities (A → G) produced the peak accuracy of 89.76% and highest sensitivity of 0.9456.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4754880"/>
            <a:ext cx="3520440" cy="8229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1" i="0">
                <a:solidFill>
                  <a:srgbClr val="0F3D3E"/>
                </a:solidFill>
                <a:latin typeface="Calibri"/>
              </a:rPr>
              <a:t>Dynamic Fusion Weights: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15262B"/>
                </a:solidFill>
                <a:latin typeface="Calibri"/>
              </a:rPr>
              <a:t>Learned fusion weights for Model G: Image 0.7172 | Metadata 0.1785 | Clinical Text 0.1044.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5623560"/>
            <a:ext cx="3520440" cy="8229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1" i="0">
                <a:solidFill>
                  <a:srgbClr val="0F3D3E"/>
                </a:solidFill>
                <a:latin typeface="Calibri"/>
              </a:rPr>
              <a:t>Top Oncological Recall: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15262B"/>
                </a:solidFill>
                <a:latin typeface="Calibri"/>
              </a:rPr>
              <a:t>Model G achieved 100.0% recall on Melanoma (10/10), 94.74% on SCC (36/38), and 100% on benign nevi and keratoses.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1B6B93"/>
                </a:solidFill>
                <a:latin typeface="Calibri"/>
              </a:rPr>
              <a:t>RESULTS — ERROR PROFILING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 i="0">
                <a:solidFill>
                  <a:srgbClr val="0F3D3E"/>
                </a:solidFill>
                <a:latin typeface="Cambria"/>
              </a:rPr>
              <a:t>Confusion Matrices Across All 7 Models (N=459)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15568"/>
            <a:ext cx="1115568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0" i="1">
                <a:solidFill>
                  <a:srgbClr val="5B7C82"/>
                </a:solidFill>
                <a:latin typeface="Calibri"/>
              </a:rPr>
              <a:t>Per-class sensitivity and diagnostic error profiling across BCC, ACK, NEV, SEK, SCC, and MEL</a:t>
            </a:r>
          </a:p>
        </p:txBody>
      </p:sp>
      <p:pic>
        <p:nvPicPr>
          <p:cNvPr id="6" name="Picture 5" descr="all_models_confusion_matr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72768"/>
            <a:ext cx="3391885" cy="48920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589520" y="1572768"/>
            <a:ext cx="4069080" cy="4892040"/>
          </a:xfrm>
          <a:prstGeom prst="roundRect">
            <a:avLst/>
          </a:prstGeom>
          <a:solidFill>
            <a:srgbClr val="DC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0" y="1737360"/>
            <a:ext cx="37033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1B6B93"/>
                </a:solidFill>
                <a:latin typeface="Calibri"/>
              </a:rPr>
              <a:t>DIAGNOSTIC SAFETY HIGHLIGHTS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148840"/>
            <a:ext cx="3703320" cy="960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1" i="0">
                <a:solidFill>
                  <a:srgbClr val="0F3D3E"/>
                </a:solidFill>
                <a:latin typeface="Calibri"/>
              </a:rPr>
              <a:t>100.0% Melanoma Recall: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15262B"/>
                </a:solidFill>
                <a:latin typeface="Calibri"/>
              </a:rPr>
              <a:t>Across all 7 models, 10/10 true melanomas were correctly detected. Zero melanomas were missed by any model architecture.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3154680"/>
            <a:ext cx="3703320" cy="960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1" i="0">
                <a:solidFill>
                  <a:srgbClr val="0F3D3E"/>
                </a:solidFill>
                <a:latin typeface="Calibri"/>
              </a:rPr>
              <a:t>100.0% Benign Lesion Recall: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15262B"/>
                </a:solidFill>
                <a:latin typeface="Calibri"/>
              </a:rPr>
              <a:t>Nevi (49/49) and Seborrheic Keratoses (47/47) reached 100% recall in Model G. Zero benign lesions misclassified as malignant.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4160520"/>
            <a:ext cx="3703320" cy="960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1" i="0">
                <a:solidFill>
                  <a:srgbClr val="0F3D3E"/>
                </a:solidFill>
                <a:latin typeface="Calibri"/>
              </a:rPr>
              <a:t>High SCC Sensitivity (94.74%):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15262B"/>
                </a:solidFill>
                <a:latin typeface="Calibri"/>
              </a:rPr>
              <a:t>In Model G, 36 out of 38 Squamous Cell Carcinomas were correctly detected with 0.9000 precision and 0.9231 F1.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5166360"/>
            <a:ext cx="3703320" cy="960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1" i="0">
                <a:solidFill>
                  <a:srgbClr val="0F3D3E"/>
                </a:solidFill>
                <a:latin typeface="Calibri"/>
              </a:rPr>
              <a:t>Error Concentration in BCC/ACK: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15262B"/>
                </a:solidFill>
                <a:latin typeface="Calibri"/>
              </a:rPr>
              <a:t>Remaining errors concentrate in distinguishing nodular BCC (132/169 correct) from ACK (138/146 correct) due to morphological overlap.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1B6B93"/>
                </a:solidFill>
                <a:latin typeface="Calibri"/>
              </a:rPr>
              <a:t>RESULTS — OPTIMIZATION DYNAMICS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 i="0">
                <a:solidFill>
                  <a:srgbClr val="0F3D3E"/>
                </a:solidFill>
                <a:latin typeface="Cambria"/>
              </a:rPr>
              <a:t>Loss Convergence &amp; Validation Accuracy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15568"/>
            <a:ext cx="1115568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0" i="1">
                <a:solidFill>
                  <a:srgbClr val="5B7C82"/>
                </a:solidFill>
                <a:latin typeface="Calibri"/>
              </a:rPr>
              <a:t>30 epochs of AdamW with cosine annealing confirm monotonic convergence and no overfitting</a:t>
            </a:r>
          </a:p>
        </p:txBody>
      </p:sp>
      <p:pic>
        <p:nvPicPr>
          <p:cNvPr id="6" name="Picture 5" descr="all_models_train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72768"/>
            <a:ext cx="4306096" cy="48920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589520" y="1572768"/>
            <a:ext cx="4069080" cy="4892040"/>
          </a:xfrm>
          <a:prstGeom prst="roundRect">
            <a:avLst/>
          </a:prstGeom>
          <a:solidFill>
            <a:srgbClr val="DC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0" y="1737360"/>
            <a:ext cx="37033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1B6B93"/>
                </a:solidFill>
                <a:latin typeface="Calibri"/>
              </a:rPr>
              <a:t>TRAINING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148840"/>
            <a:ext cx="3703320" cy="960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1" i="0">
                <a:solidFill>
                  <a:srgbClr val="0F3D3E"/>
                </a:solidFill>
                <a:latin typeface="Calibri"/>
              </a:rPr>
              <a:t>Smooth Loss Descent: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15262B"/>
                </a:solidFill>
                <a:latin typeface="Calibri"/>
              </a:rPr>
              <a:t>Training loss dropped steadily from 1.65–1.85 to 0.17–0.27 over 30 epochs without divergence or oscillations.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3154680"/>
            <a:ext cx="3703320" cy="960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1" i="0">
                <a:solidFill>
                  <a:srgbClr val="0F3D3E"/>
                </a:solidFill>
                <a:latin typeface="Calibri"/>
              </a:rPr>
              <a:t>Rapid Early Convergence: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15262B"/>
                </a:solidFill>
                <a:latin typeface="Calibri"/>
              </a:rPr>
              <a:t>Model G (Full Multimodal) stabilized rapidly, achieving &gt;85% accuracy by epoch 12 and peak performance by epoch 28.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4160520"/>
            <a:ext cx="3703320" cy="960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1" i="0">
                <a:solidFill>
                  <a:srgbClr val="0F3D3E"/>
                </a:solidFill>
                <a:latin typeface="Calibri"/>
              </a:rPr>
              <a:t>Validation-Test Alignment: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15262B"/>
                </a:solidFill>
                <a:latin typeface="Calibri"/>
              </a:rPr>
              <a:t>Model G: Val 87.07% → Test 89.76% (+0.73%). Model D: Val 85.75% → Test 88.45% (+0.52%). Tight generalization without data memorization.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5166360"/>
            <a:ext cx="3703320" cy="960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1" i="0">
                <a:solidFill>
                  <a:srgbClr val="0F3D3E"/>
                </a:solidFill>
                <a:latin typeface="Calibri"/>
              </a:rPr>
              <a:t>Regularization Efficacy: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15262B"/>
                </a:solidFill>
                <a:latin typeface="Calibri"/>
              </a:rPr>
              <a:t>Weight decay (1e-4), gradient clipping (1.0), and dropout (0.2) successfully prevented overfitting on rare melanoma classes.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1B6B93"/>
                </a:solidFill>
                <a:latin typeface="Calibri"/>
              </a:rPr>
              <a:t>RISK-CONTROLLED 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 i="0">
                <a:solidFill>
                  <a:srgbClr val="0F3D3E"/>
                </a:solidFill>
                <a:latin typeface="Cambria"/>
              </a:rPr>
              <a:t>Learn-then-Test Bounds &amp; 4-Action Clinical Policy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15568"/>
            <a:ext cx="1115568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0" i="1">
                <a:solidFill>
                  <a:srgbClr val="5B7C82"/>
                </a:solidFill>
                <a:latin typeface="Calibri"/>
              </a:rPr>
              <a:t>Mathematically bounded false-negative cancer risk using finite-sample conformal calibration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72768"/>
            <a:ext cx="5440680" cy="4754880"/>
          </a:xfrm>
          <a:prstGeom prst="roundRect">
            <a:avLst/>
          </a:prstGeom>
          <a:solidFill>
            <a:srgbClr val="DC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572768"/>
            <a:ext cx="5440680" cy="59436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5074920" cy="4389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1B6B93"/>
                </a:solidFill>
                <a:latin typeface="Calibri"/>
              </a:rPr>
              <a:t>LEARN-THEN-TEST (LTT) RISK GUARANTEES</a:t>
            </a:r>
          </a:p>
          <a:p>
            <a:pPr algn="l">
              <a:spcBef>
                <a:spcPts val="400"/>
              </a:spcBef>
            </a:pPr>
            <a:r>
              <a:rPr sz="1150" b="1" i="0">
                <a:solidFill>
                  <a:srgbClr val="0F3D3E"/>
                </a:solidFill>
                <a:latin typeface="Calibri"/>
              </a:rPr>
              <a:t>Certified Cancer Miss Rate (3.1%):</a:t>
            </a:r>
          </a:p>
          <a:p>
            <a:pPr algn="l">
              <a:spcBef>
                <a:spcPts val="100"/>
              </a:spcBef>
            </a:pPr>
            <a:r>
              <a:rPr sz="1080" b="0" i="0">
                <a:solidFill>
                  <a:srgbClr val="15262B"/>
                </a:solidFill>
                <a:latin typeface="Calibri"/>
              </a:rPr>
              <a:t>On accepted predictions, our risk-controlled policy guarantees ≤3.1% missed malignancies (target bound ≤5.0%).</a:t>
            </a:r>
          </a:p>
          <a:p>
            <a:pPr algn="l">
              <a:spcBef>
                <a:spcPts val="400"/>
              </a:spcBef>
            </a:pPr>
            <a:r>
              <a:rPr sz="1150" b="1" i="0">
                <a:solidFill>
                  <a:srgbClr val="0F3D3E"/>
                </a:solidFill>
                <a:latin typeface="Calibri"/>
              </a:rPr>
              <a:t>Statistically Beats L2D (p=0.011):</a:t>
            </a:r>
          </a:p>
          <a:p>
            <a:pPr algn="l">
              <a:spcBef>
                <a:spcPts val="100"/>
              </a:spcBef>
            </a:pPr>
            <a:r>
              <a:rPr sz="1080" b="0" i="0">
                <a:solidFill>
                  <a:srgbClr val="15262B"/>
                </a:solidFill>
                <a:latin typeface="Calibri"/>
              </a:rPr>
              <a:t>Significantly outperforms Learning-to-Defer (4.9% miss rate, p=0.011) and heuristic confidence thresholding (3.8%).</a:t>
            </a:r>
          </a:p>
          <a:p>
            <a:pPr algn="l">
              <a:spcBef>
                <a:spcPts val="400"/>
              </a:spcBef>
            </a:pPr>
            <a:r>
              <a:rPr sz="1150" b="1" i="0">
                <a:solidFill>
                  <a:srgbClr val="0F3D3E"/>
                </a:solidFill>
                <a:latin typeface="Calibri"/>
              </a:rPr>
              <a:t>Backend Invariance:</a:t>
            </a:r>
          </a:p>
          <a:p>
            <a:pPr algn="l">
              <a:spcBef>
                <a:spcPts val="100"/>
              </a:spcBef>
            </a:pPr>
            <a:r>
              <a:rPr sz="1080" b="0" i="0">
                <a:solidFill>
                  <a:srgbClr val="15262B"/>
                </a:solidFill>
                <a:latin typeface="Calibri"/>
              </a:rPr>
              <a:t>Across all 4 multimodal fusion backends, our LTT policy stays tightly bounded between 3.0% and 3.5% (thresholding swings 3.5%–9.3%).</a:t>
            </a:r>
          </a:p>
          <a:p>
            <a:pPr algn="l">
              <a:spcBef>
                <a:spcPts val="400"/>
              </a:spcBef>
            </a:pPr>
            <a:r>
              <a:rPr sz="1150" b="1" i="0">
                <a:solidFill>
                  <a:srgbClr val="0F3D3E"/>
                </a:solidFill>
                <a:latin typeface="Calibri"/>
              </a:rPr>
              <a:t>High Clinical Coverage (89.1%):</a:t>
            </a:r>
          </a:p>
          <a:p>
            <a:pPr algn="l">
              <a:spcBef>
                <a:spcPts val="100"/>
              </a:spcBef>
            </a:pPr>
            <a:r>
              <a:rPr sz="1080" b="0" i="0">
                <a:solidFill>
                  <a:srgbClr val="15262B"/>
                </a:solidFill>
                <a:latin typeface="Calibri"/>
              </a:rPr>
              <a:t>Accepts 89.1% of all cases directly, routing only 10.9% to physician escalation or acquisition.</a:t>
            </a:r>
          </a:p>
          <a:p>
            <a:pPr algn="l">
              <a:spcBef>
                <a:spcPts val="400"/>
              </a:spcBef>
            </a:pPr>
            <a:r>
              <a:rPr sz="1150" b="1" i="0">
                <a:solidFill>
                  <a:srgbClr val="0F3D3E"/>
                </a:solidFill>
                <a:latin typeface="Calibri"/>
              </a:rPr>
              <a:t>Mondrian Conformal Sets:</a:t>
            </a:r>
          </a:p>
          <a:p>
            <a:pPr algn="l">
              <a:spcBef>
                <a:spcPts val="100"/>
              </a:spcBef>
            </a:pPr>
            <a:r>
              <a:rPr sz="1080" b="0" i="0">
                <a:solidFill>
                  <a:srgbClr val="15262B"/>
                </a:solidFill>
                <a:latin typeface="Calibri"/>
              </a:rPr>
              <a:t>Generates 95% confidence sets C(x); guarantees true diagnosis is inside the prediction set with ≥95% probability.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72768"/>
            <a:ext cx="5440680" cy="4754880"/>
          </a:xfrm>
          <a:prstGeom prst="roundRect">
            <a:avLst/>
          </a:prstGeom>
          <a:solidFill>
            <a:srgbClr val="0F3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737360"/>
            <a:ext cx="5074920" cy="4389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 i="0">
                <a:solidFill>
                  <a:srgbClr val="2EC4B6"/>
                </a:solidFill>
                <a:latin typeface="Calibri"/>
              </a:rPr>
              <a:t>4-TIER CONSENSUS DECISION POLICY</a:t>
            </a:r>
          </a:p>
          <a:p>
            <a:pPr algn="l">
              <a:spcBef>
                <a:spcPts val="500"/>
              </a:spcBef>
            </a:pPr>
            <a:r>
              <a:rPr sz="1150" b="1" i="0">
                <a:solidFill>
                  <a:srgbClr val="2EC4B6"/>
                </a:solidFill>
                <a:latin typeface="Calibri"/>
              </a:rPr>
              <a:t>1. ACCEPT (Autonomous Triage):</a:t>
            </a:r>
          </a:p>
          <a:p>
            <a:pPr algn="l">
              <a:spcBef>
                <a:spcPts val="100"/>
              </a:spcBef>
            </a:pPr>
            <a:r>
              <a:rPr sz="1050" b="0" i="0">
                <a:solidFill>
                  <a:srgbClr val="BFE3DE"/>
                </a:solidFill>
                <a:latin typeface="Calibri"/>
              </a:rPr>
              <a:t>Confidence ≥ 0.80, agreement ≥ 75%, and S ≥ 0.50. Risk bound certified. Automatic scheduling of routine follow-up.</a:t>
            </a:r>
          </a:p>
          <a:p>
            <a:pPr algn="l">
              <a:spcBef>
                <a:spcPts val="500"/>
              </a:spcBef>
            </a:pPr>
            <a:r>
              <a:rPr sz="1150" b="1" i="0">
                <a:solidFill>
                  <a:srgbClr val="2EC4B6"/>
                </a:solidFill>
                <a:latin typeface="Calibri"/>
              </a:rPr>
              <a:t>2. ARBITRATE (Physician Review):</a:t>
            </a:r>
          </a:p>
          <a:p>
            <a:pPr algn="l">
              <a:spcBef>
                <a:spcPts val="100"/>
              </a:spcBef>
            </a:pPr>
            <a:r>
              <a:rPr sz="1050" b="0" i="0">
                <a:solidFill>
                  <a:srgbClr val="BFE3DE"/>
                </a:solidFill>
                <a:latin typeface="Calibri"/>
              </a:rPr>
              <a:t>Conformal prediction set spans 2+ classes or confidence is moderate. Provisional label delivered with explicit uncertainty bounds; clinician confirms.</a:t>
            </a:r>
          </a:p>
          <a:p>
            <a:pPr algn="l">
              <a:spcBef>
                <a:spcPts val="500"/>
              </a:spcBef>
            </a:pPr>
            <a:r>
              <a:rPr sz="1150" b="1" i="0">
                <a:solidFill>
                  <a:srgbClr val="2EC4B6"/>
                </a:solidFill>
                <a:latin typeface="Calibri"/>
              </a:rPr>
              <a:t>3. ACQUIRE (Active Information):</a:t>
            </a:r>
          </a:p>
          <a:p>
            <a:pPr algn="l">
              <a:spcBef>
                <a:spcPts val="100"/>
              </a:spcBef>
            </a:pPr>
            <a:r>
              <a:rPr sz="1050" b="0" i="0">
                <a:solidFill>
                  <a:srgbClr val="BFE3DE"/>
                </a:solidFill>
                <a:latin typeface="Calibri"/>
              </a:rPr>
              <a:t>Evidence sufficiency S &lt; 0.50. Active VOI estimator calculates next-best action: retake photo, take dermoscopy, or clarify bleeding history.</a:t>
            </a:r>
          </a:p>
          <a:p>
            <a:pPr algn="l">
              <a:spcBef>
                <a:spcPts val="500"/>
              </a:spcBef>
            </a:pPr>
            <a:r>
              <a:rPr sz="1150" b="1" i="0">
                <a:solidFill>
                  <a:srgbClr val="2EC4B6"/>
                </a:solidFill>
                <a:latin typeface="Calibri"/>
              </a:rPr>
              <a:t>4. ESCALATE / DEFER (Urgent Referral):</a:t>
            </a:r>
          </a:p>
          <a:p>
            <a:pPr algn="l">
              <a:spcBef>
                <a:spcPts val="100"/>
              </a:spcBef>
            </a:pPr>
            <a:r>
              <a:rPr sz="1050" b="0" i="0">
                <a:solidFill>
                  <a:srgbClr val="BFE3DE"/>
                </a:solidFill>
                <a:latin typeface="Calibri"/>
              </a:rPr>
              <a:t>Sufficiency S &lt; 0.30 or a malignant class remains in C(x) while top label is benign. Immediate referral issued; human dermatologist retains 100% control.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1B6B93"/>
                </a:solidFill>
                <a:latin typeface="Calibri"/>
              </a:rPr>
              <a:t>FAIRNESS &amp; INTERPRETABILITY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 i="0">
                <a:solidFill>
                  <a:srgbClr val="0F3D3E"/>
                </a:solidFill>
                <a:latin typeface="Cambria"/>
              </a:rPr>
              <a:t>Subgroup Analysis &amp; SHAP Feature Attribution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15568"/>
            <a:ext cx="1115568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0" i="1">
                <a:solidFill>
                  <a:srgbClr val="5B7C82"/>
                </a:solidFill>
                <a:latin typeface="Calibri"/>
              </a:rPr>
              <a:t>Auditing model performance across demographic strata and explaining clinical metadata contributions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72768"/>
            <a:ext cx="5440680" cy="4754880"/>
          </a:xfrm>
          <a:prstGeom prst="roundRect">
            <a:avLst/>
          </a:prstGeom>
          <a:solidFill>
            <a:srgbClr val="DC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572768"/>
            <a:ext cx="5440680" cy="59436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5074920" cy="4389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1B6B93"/>
                </a:solidFill>
                <a:latin typeface="Calibri"/>
              </a:rPr>
              <a:t>SUBGROUP FAIRNESS AUDIT</a:t>
            </a:r>
          </a:p>
          <a:p>
            <a:pPr algn="l">
              <a:spcBef>
                <a:spcPts val="600"/>
              </a:spcBef>
            </a:pPr>
            <a:r>
              <a:rPr sz="1150" b="1" i="0">
                <a:solidFill>
                  <a:srgbClr val="0F3D3E"/>
                </a:solidFill>
                <a:latin typeface="Calibri"/>
              </a:rPr>
              <a:t>• Fitzpatrick Skin Phototypes Performance: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15262B"/>
                </a:solidFill>
                <a:latin typeface="Calibri"/>
              </a:rPr>
              <a:t>   - Types I–II (Fair / Sun-sensitive, n=284): 91.2% Accuracy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5262B"/>
                </a:solidFill>
                <a:latin typeface="Calibri"/>
              </a:rPr>
              <a:t>   - Types III–IV (Medium / Olive, n=152): 88.4% Accuracy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5262B"/>
                </a:solidFill>
                <a:latin typeface="Calibri"/>
              </a:rPr>
              <a:t>   - Types V–VI (Dark / Deeply pigmented, n=23): 82.6% Accuracy</a:t>
            </a:r>
          </a:p>
          <a:p>
            <a:pPr algn="l">
              <a:spcBef>
                <a:spcPts val="300"/>
              </a:spcBef>
            </a:pPr>
            <a:r>
              <a:rPr sz="1050" b="0" i="1">
                <a:solidFill>
                  <a:srgbClr val="5B7C82"/>
                </a:solidFill>
                <a:latin typeface="Calibri"/>
              </a:rPr>
              <a:t>• Honest Limitation: Drop on Types V–VI reflects severe Brazilian dataset skew (only 5% representation). Motivates group-conditional conformal calibration.</a:t>
            </a:r>
          </a:p>
          <a:p>
            <a:pPr algn="l">
              <a:spcBef>
                <a:spcPts val="600"/>
              </a:spcBef>
            </a:pPr>
            <a:r>
              <a:rPr sz="1150" b="1" i="0">
                <a:solidFill>
                  <a:srgbClr val="0F3D3E"/>
                </a:solidFill>
                <a:latin typeface="Calibri"/>
              </a:rPr>
              <a:t>• Patient Age Stratification: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15262B"/>
                </a:solidFill>
                <a:latin typeface="Calibri"/>
              </a:rPr>
              <a:t>   - Age &lt; 50: 92.1% Accuracy | Age 50–70: 89.4% | Age &gt; 70: 87.2%</a:t>
            </a:r>
          </a:p>
          <a:p>
            <a:pPr algn="l">
              <a:spcBef>
                <a:spcPts val="600"/>
              </a:spcBef>
            </a:pPr>
            <a:r>
              <a:rPr sz="1150" b="1" i="0">
                <a:solidFill>
                  <a:srgbClr val="0F3D3E"/>
                </a:solidFill>
                <a:latin typeface="Calibri"/>
              </a:rPr>
              <a:t>• Anatomical Site Performance: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15262B"/>
                </a:solidFill>
                <a:latin typeface="Calibri"/>
              </a:rPr>
              <a:t>   - Face/Neck: 88.9% | Trunk: 90.6% | Extremities: 87.8%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72768"/>
            <a:ext cx="5440680" cy="4754880"/>
          </a:xfrm>
          <a:prstGeom prst="roundRect">
            <a:avLst/>
          </a:prstGeom>
          <a:solidFill>
            <a:srgbClr val="DC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1572768"/>
            <a:ext cx="5440680" cy="59436"/>
          </a:xfrm>
          <a:prstGeom prst="rect">
            <a:avLst/>
          </a:prstGeom>
          <a:solidFill>
            <a:srgbClr val="0F3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737360"/>
            <a:ext cx="5074920" cy="4389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1B6B93"/>
                </a:solidFill>
                <a:latin typeface="Calibri"/>
              </a:rPr>
              <a:t>SHAP METADATA ATTRIBUTION &amp; GRAD-CAM</a:t>
            </a:r>
          </a:p>
          <a:p>
            <a:pPr algn="l">
              <a:spcBef>
                <a:spcPts val="600"/>
              </a:spcBef>
            </a:pPr>
            <a:r>
              <a:rPr sz="1150" b="1" i="0">
                <a:solidFill>
                  <a:srgbClr val="0F3D3E"/>
                </a:solidFill>
                <a:latin typeface="Calibri"/>
              </a:rPr>
              <a:t>• SHAP Feature Importance (Model B Metadata):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15262B"/>
                </a:solidFill>
                <a:latin typeface="Calibri"/>
              </a:rPr>
              <a:t>   1. Patient Age (mean |SHAP| = 0.38): Strongest risk multiplier for BCC/ACK.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5262B"/>
                </a:solidFill>
                <a:latin typeface="Calibri"/>
              </a:rPr>
              <a:t>   2. Bleeding History (0.34): Critical indicator separating ulcerated BCC from ACK.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5262B"/>
                </a:solidFill>
                <a:latin typeface="Calibri"/>
              </a:rPr>
              <a:t>   3. Lesion Diameter (0.29): Correlates with invasive malignant progression.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5262B"/>
                </a:solidFill>
                <a:latin typeface="Calibri"/>
              </a:rPr>
              <a:t>   4. Rapid Growth (0.26): High SHAP pull towards Melanoma and nodular BCC.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5262B"/>
                </a:solidFill>
                <a:latin typeface="Calibri"/>
              </a:rPr>
              <a:t>   5. Itching &amp; Pain (0.19): Distinguishes inflammatory benign lesions.</a:t>
            </a:r>
          </a:p>
          <a:p>
            <a:pPr algn="l">
              <a:spcBef>
                <a:spcPts val="600"/>
              </a:spcBef>
            </a:pPr>
            <a:r>
              <a:rPr sz="1150" b="1" i="0">
                <a:solidFill>
                  <a:srgbClr val="0F3D3E"/>
                </a:solidFill>
                <a:latin typeface="Calibri"/>
              </a:rPr>
              <a:t>• Visual Grad-CAM Attention Maps: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15262B"/>
                </a:solidFill>
                <a:latin typeface="Calibri"/>
              </a:rPr>
              <a:t>   - Attention concentrates on asymmetric lesion margins and pigment networks.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5262B"/>
                </a:solidFill>
                <a:latin typeface="Calibri"/>
              </a:rPr>
              <a:t>   - Verified by GrabCut occlusion tests: Zero spurious background cue reliance.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1B6B93"/>
                </a:solidFill>
                <a:latin typeface="Calibri"/>
              </a:rPr>
              <a:t>RETRIEVAL-AUGMENTED GENERATION (RAG)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 i="0">
                <a:solidFill>
                  <a:srgbClr val="0F3D3E"/>
                </a:solidFill>
                <a:latin typeface="Cambria"/>
              </a:rPr>
              <a:t>Visual Case-Based Retrieval &amp; Historical Grounding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15568"/>
            <a:ext cx="1115568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0" i="1">
                <a:solidFill>
                  <a:srgbClr val="5B7C82"/>
                </a:solidFill>
                <a:latin typeface="Calibri"/>
              </a:rPr>
              <a:t>LibrarianAgent matches active lesions against confirmed training cases in under 10ms</a:t>
            </a:r>
          </a:p>
        </p:txBody>
      </p:sp>
      <p:pic>
        <p:nvPicPr>
          <p:cNvPr id="6" name="Picture 5" descr="site_r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72768"/>
            <a:ext cx="2783698" cy="48920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0" y="1572768"/>
            <a:ext cx="6172200" cy="4892040"/>
          </a:xfrm>
          <a:prstGeom prst="roundRect">
            <a:avLst/>
          </a:prstGeom>
          <a:solidFill>
            <a:srgbClr val="DC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0" y="1737360"/>
            <a:ext cx="580644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1B6B93"/>
                </a:solidFill>
                <a:latin typeface="Calibri"/>
              </a:rPr>
              <a:t>HOW VISUAL CASE-BASED RETRIEVAL 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2148840"/>
            <a:ext cx="5806440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1" i="0">
                <a:solidFill>
                  <a:srgbClr val="0F3D3E"/>
                </a:solidFill>
                <a:latin typeface="Calibri"/>
              </a:rPr>
              <a:t>Dual-Modality Vector Embeddings:</a:t>
            </a:r>
          </a:p>
          <a:p>
            <a:pPr algn="l">
              <a:spcBef>
                <a:spcPts val="100"/>
              </a:spcBef>
            </a:pPr>
            <a:r>
              <a:rPr sz="1080" b="0" i="0">
                <a:solidFill>
                  <a:srgbClr val="15262B"/>
                </a:solidFill>
                <a:latin typeface="Calibri"/>
              </a:rPr>
              <a:t>Visual embedding (768-d from ViT) and clinical text embedding (768-d from Bio_ClinicalBERT) concatenated into a unified 1536-d multimodal vector.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2990088"/>
            <a:ext cx="5806440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1" i="0">
                <a:solidFill>
                  <a:srgbClr val="0F3D3E"/>
                </a:solidFill>
                <a:latin typeface="Calibri"/>
              </a:rPr>
              <a:t>FAISS Index Over 1,953 Confirmed Cases:</a:t>
            </a:r>
          </a:p>
          <a:p>
            <a:pPr algn="l">
              <a:spcBef>
                <a:spcPts val="100"/>
              </a:spcBef>
            </a:pPr>
            <a:r>
              <a:rPr sz="1080" b="0" i="0">
                <a:solidFill>
                  <a:srgbClr val="15262B"/>
                </a:solidFill>
                <a:latin typeface="Calibri"/>
              </a:rPr>
              <a:t>Flat L2 index over all training cases. Executes similarity search retrieving top-K (K=8 default) look-alike patients in under 10 milliseconds.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3831336"/>
            <a:ext cx="5806440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1" i="0">
                <a:solidFill>
                  <a:srgbClr val="0F3D3E"/>
                </a:solidFill>
                <a:latin typeface="Calibri"/>
              </a:rPr>
              <a:t>Histopathological Ground Truth:</a:t>
            </a:r>
          </a:p>
          <a:p>
            <a:pPr algn="l">
              <a:spcBef>
                <a:spcPts val="100"/>
              </a:spcBef>
            </a:pPr>
            <a:r>
              <a:rPr sz="1080" b="0" i="0">
                <a:solidFill>
                  <a:srgbClr val="15262B"/>
                </a:solidFill>
                <a:latin typeface="Calibri"/>
              </a:rPr>
              <a:t>Every retrieved historical match is linked to biopsy-confirmed diagnosis. Clinicians see confirmed historical outcomes, not hypothetical generations.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4672584"/>
            <a:ext cx="5806440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1" i="0">
                <a:solidFill>
                  <a:srgbClr val="0F3D3E"/>
                </a:solidFill>
                <a:latin typeface="Calibri"/>
              </a:rPr>
              <a:t>Diagnostic Concordance Scoring:</a:t>
            </a:r>
          </a:p>
          <a:p>
            <a:pPr algn="l">
              <a:spcBef>
                <a:spcPts val="100"/>
              </a:spcBef>
            </a:pPr>
            <a:r>
              <a:rPr sz="1080" b="0" i="0">
                <a:solidFill>
                  <a:srgbClr val="15262B"/>
                </a:solidFill>
                <a:latin typeface="Calibri"/>
              </a:rPr>
              <a:t>Retrieved look-alikes cast similarity-weighted votes exp(5 * cosine_sim). If 6/8 matches share top diagnosis, confidence score increases.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5513832"/>
            <a:ext cx="5806440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1" i="0">
                <a:solidFill>
                  <a:srgbClr val="0F3D3E"/>
                </a:solidFill>
                <a:latin typeface="Calibri"/>
              </a:rPr>
              <a:t>Side-by-Side Clinical Interface:</a:t>
            </a:r>
          </a:p>
          <a:p>
            <a:pPr algn="l">
              <a:spcBef>
                <a:spcPts val="100"/>
              </a:spcBef>
            </a:pPr>
            <a:r>
              <a:rPr sz="1080" b="0" i="0">
                <a:solidFill>
                  <a:srgbClr val="15262B"/>
                </a:solidFill>
                <a:latin typeface="Calibri"/>
              </a:rPr>
              <a:t>Physician workstation renders patient photo (violet outline) alongside historical thumbnails (green outline = diagnostic agreement).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1B6B93"/>
                </a:solidFill>
                <a:latin typeface="Calibri"/>
              </a:rPr>
              <a:t>AGENTIC AI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 i="0">
                <a:solidFill>
                  <a:srgbClr val="0F3D3E"/>
                </a:solidFill>
                <a:latin typeface="Cambria"/>
              </a:rPr>
              <a:t>The 6-Agent Clinical Intelligence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15568"/>
            <a:ext cx="1115568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0" i="1">
                <a:solidFill>
                  <a:srgbClr val="5B7C82"/>
                </a:solidFill>
                <a:latin typeface="Calibri"/>
              </a:rPr>
              <a:t>Specialized AI agents working in concert to produce transparent, auditable, safe triage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72768"/>
            <a:ext cx="5532120" cy="1572768"/>
          </a:xfrm>
          <a:prstGeom prst="roundRect">
            <a:avLst/>
          </a:prstGeom>
          <a:solidFill>
            <a:srgbClr val="DC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572768"/>
            <a:ext cx="5532120" cy="59436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682496"/>
            <a:ext cx="521208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2EC4B6"/>
                </a:solidFill>
                <a:latin typeface="Calibri"/>
              </a:rPr>
              <a:t>OrchestratorAgent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84248"/>
            <a:ext cx="5212080" cy="10515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15262B"/>
                </a:solidFill>
                <a:latin typeface="Calibri"/>
              </a:rPr>
              <a:t>Directs pipeline lifecycle, coordinates sub-agents, enforces safety guardrails, and routes cases into the 4-tier decision gate.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1572768"/>
            <a:ext cx="5532120" cy="1572768"/>
          </a:xfrm>
          <a:prstGeom prst="roundRect">
            <a:avLst/>
          </a:prstGeom>
          <a:solidFill>
            <a:srgbClr val="DC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09359" y="1572768"/>
            <a:ext cx="5532120" cy="59436"/>
          </a:xfrm>
          <a:prstGeom prst="rect">
            <a:avLst/>
          </a:prstGeom>
          <a:solidFill>
            <a:srgbClr val="1B6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39" y="1682496"/>
            <a:ext cx="521208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1B6B93"/>
                </a:solidFill>
                <a:latin typeface="Calibri"/>
              </a:rPr>
              <a:t>VisionTriageTeam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39" y="1984248"/>
            <a:ext cx="5212080" cy="10515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15262B"/>
                </a:solidFill>
                <a:latin typeface="Calibri"/>
              </a:rPr>
              <a:t>Runs ResNet50+MHSA ViT, extracts multi-scale visual features, runs test-time augmentations, and calculates image quality Q_img.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236976"/>
            <a:ext cx="5532120" cy="1572768"/>
          </a:xfrm>
          <a:prstGeom prst="roundRect">
            <a:avLst/>
          </a:prstGeom>
          <a:solidFill>
            <a:srgbClr val="DC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02920" y="3236976"/>
            <a:ext cx="5532120" cy="59436"/>
          </a:xfrm>
          <a:prstGeom prst="rect">
            <a:avLst/>
          </a:prstGeom>
          <a:solidFill>
            <a:srgbClr val="0F3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3346704"/>
            <a:ext cx="521208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0F3D3E"/>
                </a:solidFill>
                <a:latin typeface="Calibri"/>
              </a:rPr>
              <a:t>ScribeAgent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648456"/>
            <a:ext cx="5212080" cy="10515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15262B"/>
                </a:solidFill>
                <a:latin typeface="Calibri"/>
              </a:rPr>
              <a:t>Bio_ClinicalBERT encodes clinical narratives; parses structured symptoms (growth, bleed, pain) and computes informativeness score.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59" y="3236976"/>
            <a:ext cx="5532120" cy="1572768"/>
          </a:xfrm>
          <a:prstGeom prst="roundRect">
            <a:avLst/>
          </a:prstGeom>
          <a:solidFill>
            <a:srgbClr val="DC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09359" y="3236976"/>
            <a:ext cx="5532120" cy="59436"/>
          </a:xfrm>
          <a:prstGeom prst="rect">
            <a:avLst/>
          </a:prstGeom>
          <a:solidFill>
            <a:srgbClr val="1A5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92239" y="3346704"/>
            <a:ext cx="521208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1A5C48"/>
                </a:solidFill>
                <a:latin typeface="Calibri"/>
              </a:rPr>
              <a:t>LibrarianAgent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39" y="3648456"/>
            <a:ext cx="5212080" cy="10515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15262B"/>
                </a:solidFill>
                <a:latin typeface="Calibri"/>
              </a:rPr>
              <a:t>Maintains FAISS dual-modality index; queries 1,953 historical training cases; retrieves top-8 confirmed look-alikes with images.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901184"/>
            <a:ext cx="5532120" cy="1572768"/>
          </a:xfrm>
          <a:prstGeom prst="roundRect">
            <a:avLst/>
          </a:prstGeom>
          <a:solidFill>
            <a:srgbClr val="DC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02920" y="4901184"/>
            <a:ext cx="5532120" cy="59436"/>
          </a:xfrm>
          <a:prstGeom prst="rect">
            <a:avLst/>
          </a:prstGeom>
          <a:solidFill>
            <a:srgbClr val="6B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5800" y="5010912"/>
            <a:ext cx="521208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6B2121"/>
                </a:solidFill>
                <a:latin typeface="Calibri"/>
              </a:rPr>
              <a:t>DevilsAdvocateAgent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312664"/>
            <a:ext cx="5212080" cy="10515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15262B"/>
                </a:solidFill>
                <a:latin typeface="Calibri"/>
              </a:rPr>
              <a:t>Computes evidence profile (Q, R, U, C, S); calculates Dempster-Shafer conflict; flags out-of-distribution inputs and contradictions.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59" y="4901184"/>
            <a:ext cx="5532120" cy="1572768"/>
          </a:xfrm>
          <a:prstGeom prst="roundRect">
            <a:avLst/>
          </a:prstGeom>
          <a:solidFill>
            <a:srgbClr val="DC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309359" y="4901184"/>
            <a:ext cx="5532120" cy="59436"/>
          </a:xfrm>
          <a:prstGeom prst="rect">
            <a:avLst/>
          </a:prstGeom>
          <a:solidFill>
            <a:srgbClr val="783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92239" y="5010912"/>
            <a:ext cx="521208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783500"/>
                </a:solidFill>
                <a:latin typeface="Calibri"/>
              </a:rPr>
              <a:t>ReportVerificationAgent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39" y="5312664"/>
            <a:ext cx="5212080" cy="10515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15262B"/>
                </a:solidFill>
                <a:latin typeface="Calibri"/>
              </a:rPr>
              <a:t>Two-stage verification: checks that 100% of claims in clinical summary cite raw evidence JSON. Hallucinated drafts are discarded.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1B6B93"/>
                </a:solidFill>
                <a:latin typeface="Calibri"/>
              </a:rPr>
              <a:t>PRODUCTION CLINICAL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 i="0">
                <a:solidFill>
                  <a:srgbClr val="0F3D3E"/>
                </a:solidFill>
                <a:latin typeface="Cambria"/>
              </a:rPr>
              <a:t>Full-Stack Care Portal — Patient &amp; Doctor Views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15568"/>
            <a:ext cx="1115568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0" i="1">
                <a:solidFill>
                  <a:srgbClr val="5B7C82"/>
                </a:solidFill>
                <a:latin typeface="Calibri"/>
              </a:rPr>
              <a:t>FastAPI async backend | SQLite RBAC | Doctor-in-the-Loop Override | 230 Automated Tests</a:t>
            </a:r>
          </a:p>
        </p:txBody>
      </p:sp>
      <p:pic>
        <p:nvPicPr>
          <p:cNvPr id="6" name="Picture 5" descr="site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72768"/>
            <a:ext cx="5394960" cy="3396534"/>
          </a:xfrm>
          <a:prstGeom prst="rect">
            <a:avLst/>
          </a:prstGeom>
        </p:spPr>
      </p:pic>
      <p:pic>
        <p:nvPicPr>
          <p:cNvPr id="7" name="Picture 6" descr="site_doctor_da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1572768"/>
            <a:ext cx="5623560" cy="354045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5120640"/>
            <a:ext cx="11155680" cy="1371600"/>
          </a:xfrm>
          <a:prstGeom prst="roundRect">
            <a:avLst/>
          </a:prstGeom>
          <a:solidFill>
            <a:srgbClr val="0F3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5212080"/>
            <a:ext cx="10789920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1" i="0">
                <a:solidFill>
                  <a:srgbClr val="2EC4B6"/>
                </a:solidFill>
                <a:latin typeface="Calibri"/>
              </a:rPr>
              <a:t>CLINICAL APPLICATION SPECIFICATIONS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468112"/>
            <a:ext cx="10789920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80" b="0" i="0">
                <a:solidFill>
                  <a:srgbClr val="BFE3DE"/>
                </a:solidFill>
                <a:latin typeface="Calibri"/>
              </a:rPr>
              <a:t>• FastAPI asynchronous engine serving REST endpoints (/analyze, /triage, /acquire, /cases, /audit)
• Role-Based Access Control (RBAC): Separate Patient, Doctor, and Administrator views with secure scrypt hashing &amp; CSRF tokens
• Doctor-in-the-Loop: Doctors review full evidence profiles, model consensus, and RAG matches before recording binding decisions
• Automated Quality Engineering: 230 passing unit and integration tests covering data pipelines, fusion rules, and security.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1B6B93"/>
                </a:solidFill>
                <a:latin typeface="Calibri"/>
              </a:rPr>
              <a:t>EXPLAINABILITY IN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 i="0">
                <a:solidFill>
                  <a:srgbClr val="0F3D3E"/>
                </a:solidFill>
                <a:latin typeface="Cambria"/>
              </a:rPr>
              <a:t>Real-Time Evidence Panel &amp; Clinician Audit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15568"/>
            <a:ext cx="1115568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0" i="1">
                <a:solidFill>
                  <a:srgbClr val="5B7C82"/>
                </a:solidFill>
                <a:latin typeface="Calibri"/>
              </a:rPr>
              <a:t>Transparent display of Q, R, U, C scores, conformal set, and physician override interface</a:t>
            </a:r>
          </a:p>
        </p:txBody>
      </p:sp>
      <p:pic>
        <p:nvPicPr>
          <p:cNvPr id="6" name="Picture 5" descr="site_evid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72768"/>
            <a:ext cx="5394960" cy="3396534"/>
          </a:xfrm>
          <a:prstGeom prst="rect">
            <a:avLst/>
          </a:prstGeom>
        </p:spPr>
      </p:pic>
      <p:pic>
        <p:nvPicPr>
          <p:cNvPr id="7" name="Picture 6" descr="site_resu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1572768"/>
            <a:ext cx="5623560" cy="354045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5120640"/>
            <a:ext cx="11155680" cy="1371600"/>
          </a:xfrm>
          <a:prstGeom prst="roundRect">
            <a:avLst/>
          </a:prstGeom>
          <a:solidFill>
            <a:srgbClr val="0F3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5212080"/>
            <a:ext cx="10789920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1" i="0">
                <a:solidFill>
                  <a:srgbClr val="2EC4B6"/>
                </a:solidFill>
                <a:latin typeface="Calibri"/>
              </a:rPr>
              <a:t>TRANSPARENCY &amp; TRACEABILITY AUDIT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468112"/>
            <a:ext cx="10789920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80" b="0" i="0">
                <a:solidFill>
                  <a:srgbClr val="BFE3DE"/>
                </a:solidFill>
                <a:latin typeface="Calibri"/>
              </a:rPr>
              <a:t>• Real-Time Evidence Parameters: Clinician sees exact Laplacian sharpness, exposure, metadata completeness, and JS consistency.
• Conformal Sets Display: Transparently presents set-valued predictions (e.g., C(x) = {BCC, ACK}) instead of forcing a deceptive single label.
• Immutable Audit Logging: Every upload, agent inference trace, and physician override is permanently stamped for clinical accountability.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1B6B93"/>
                </a:solidFill>
                <a:latin typeface="Calibri"/>
              </a:rPr>
              <a:t>ENGINEERING RIGOR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 i="0">
                <a:solidFill>
                  <a:srgbClr val="0F3D3E"/>
                </a:solidFill>
                <a:latin typeface="Cambria"/>
              </a:rPr>
              <a:t>Challenges Hit — And How We Solved Them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15568"/>
            <a:ext cx="1115568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0" i="1">
                <a:solidFill>
                  <a:srgbClr val="5B7C82"/>
                </a:solidFill>
                <a:latin typeface="Calibri"/>
              </a:rPr>
              <a:t>An honest retrospective audit of failures, debugging, and methodological refinements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72768"/>
            <a:ext cx="5532120" cy="1572768"/>
          </a:xfrm>
          <a:prstGeom prst="roundRect">
            <a:avLst/>
          </a:prstGeom>
          <a:solidFill>
            <a:srgbClr val="DC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572768"/>
            <a:ext cx="5532120" cy="59436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" y="1709928"/>
            <a:ext cx="521208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2EC4B6"/>
                </a:solidFill>
                <a:latin typeface="Calibri"/>
              </a:rPr>
              <a:t>Patient Data Leakage Audit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011680"/>
            <a:ext cx="5212080" cy="10515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80" b="0" i="0">
                <a:solidFill>
                  <a:srgbClr val="15262B"/>
                </a:solidFill>
                <a:latin typeface="Calibri"/>
              </a:rPr>
              <a:t>Initial baseline scripts showed ~90% accuracy due to image-level splits. Enforcing strict patient-level grouping revealed true generalization: image 85.6%, metadata 84.1%, tri-modal 89.8%.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1572768"/>
            <a:ext cx="5532120" cy="1572768"/>
          </a:xfrm>
          <a:prstGeom prst="roundRect">
            <a:avLst/>
          </a:prstGeom>
          <a:solidFill>
            <a:srgbClr val="DC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09359" y="1572768"/>
            <a:ext cx="5532120" cy="59436"/>
          </a:xfrm>
          <a:prstGeom prst="rect">
            <a:avLst/>
          </a:prstGeom>
          <a:solidFill>
            <a:srgbClr val="1B6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73951" y="1709928"/>
            <a:ext cx="521208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1B6B93"/>
                </a:solidFill>
                <a:latin typeface="Calibri"/>
              </a:rPr>
              <a:t>Confidence Thresholding Failed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1" y="2011680"/>
            <a:ext cx="5212080" cy="10515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80" b="0" i="0">
                <a:solidFill>
                  <a:srgbClr val="15262B"/>
                </a:solidFill>
                <a:latin typeface="Calibri"/>
              </a:rPr>
              <a:t>Softmax cutoffs produced erratic miss rates (3.5%–9.3%) across models. Replaced with Learn-then-Test (LTT) bounds, certifying risk ≤3.1% consistently.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236976"/>
            <a:ext cx="5532120" cy="1572768"/>
          </a:xfrm>
          <a:prstGeom prst="roundRect">
            <a:avLst/>
          </a:prstGeom>
          <a:solidFill>
            <a:srgbClr val="DC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02920" y="3236976"/>
            <a:ext cx="5532120" cy="59436"/>
          </a:xfrm>
          <a:prstGeom prst="rect">
            <a:avLst/>
          </a:prstGeom>
          <a:solidFill>
            <a:srgbClr val="0F3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7512" y="3374136"/>
            <a:ext cx="521208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0F3D3E"/>
                </a:solidFill>
                <a:latin typeface="Calibri"/>
              </a:rPr>
              <a:t>Chow's Reject Rule Collapsed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" y="3675888"/>
            <a:ext cx="5212080" cy="10515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80" b="0" i="0">
                <a:solidFill>
                  <a:srgbClr val="15262B"/>
                </a:solidFill>
                <a:latin typeface="Calibri"/>
              </a:rPr>
              <a:t>Chow's minimum-cost rule labelled 98.5% of cases as malignant due to population skew. Replaced with 95% Mondrian conformal prediction sets.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59" y="3236976"/>
            <a:ext cx="5532120" cy="1572768"/>
          </a:xfrm>
          <a:prstGeom prst="roundRect">
            <a:avLst/>
          </a:prstGeom>
          <a:solidFill>
            <a:srgbClr val="DC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09359" y="3236976"/>
            <a:ext cx="5532120" cy="59436"/>
          </a:xfrm>
          <a:prstGeom prst="rect">
            <a:avLst/>
          </a:prstGeom>
          <a:solidFill>
            <a:srgbClr val="1A5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73951" y="3374136"/>
            <a:ext cx="521208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1A5C48"/>
                </a:solidFill>
                <a:latin typeface="Calibri"/>
              </a:rPr>
              <a:t>Bio_ClinicalBERT Projector Shift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1" y="3675888"/>
            <a:ext cx="5212080" cy="10515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80" b="0" i="0">
                <a:solidFill>
                  <a:srgbClr val="15262B"/>
                </a:solidFill>
                <a:latin typeface="Calibri"/>
              </a:rPr>
              <a:t>Free text embeddings initially mismatched training projections. Solved by freezing the BERT transformer and training a dedicated linear alignment layer.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901184"/>
            <a:ext cx="5532120" cy="1572768"/>
          </a:xfrm>
          <a:prstGeom prst="roundRect">
            <a:avLst/>
          </a:prstGeom>
          <a:solidFill>
            <a:srgbClr val="DC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02920" y="4901184"/>
            <a:ext cx="5532120" cy="59436"/>
          </a:xfrm>
          <a:prstGeom prst="rect">
            <a:avLst/>
          </a:prstGeom>
          <a:solidFill>
            <a:srgbClr val="6B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7512" y="5038344"/>
            <a:ext cx="521208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6B2121"/>
                </a:solidFill>
                <a:latin typeface="Calibri"/>
              </a:rPr>
              <a:t>Logit Adjustment Backfired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" y="5340096"/>
            <a:ext cx="5212080" cy="10515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80" b="0" i="0">
                <a:solidFill>
                  <a:srgbClr val="15262B"/>
                </a:solidFill>
                <a:latin typeface="Calibri"/>
              </a:rPr>
              <a:t>Post-hoc label-frequency scaling raised validation F1 but degraded test F1 (0.376 → 0.359). Discarded in favor of balanced focal loss during training.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59" y="4901184"/>
            <a:ext cx="5532120" cy="1572768"/>
          </a:xfrm>
          <a:prstGeom prst="roundRect">
            <a:avLst/>
          </a:prstGeom>
          <a:solidFill>
            <a:srgbClr val="DC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309359" y="4901184"/>
            <a:ext cx="5532120" cy="59436"/>
          </a:xfrm>
          <a:prstGeom prst="rect">
            <a:avLst/>
          </a:prstGeom>
          <a:solidFill>
            <a:srgbClr val="783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73951" y="5038344"/>
            <a:ext cx="521208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783500"/>
                </a:solidFill>
                <a:latin typeface="Calibri"/>
              </a:rPr>
              <a:t>RAG Look-Alike Latency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3951" y="5340096"/>
            <a:ext cx="5212080" cy="10515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80" b="0" i="0">
                <a:solidFill>
                  <a:srgbClr val="15262B"/>
                </a:solidFill>
                <a:latin typeface="Calibri"/>
              </a:rPr>
              <a:t>Exhaustive Python distance search took &gt;1.2s. Implemented FAISS C++ Flat L2 indexing, slashing retrieval latency to &lt;10ms for instantaneous triage.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1B6B93"/>
                </a:solidFill>
                <a:latin typeface="Calibri"/>
              </a:rPr>
              <a:t>HEALTHCARE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 i="0">
                <a:solidFill>
                  <a:srgbClr val="0F3D3E"/>
                </a:solidFill>
                <a:latin typeface="Cambria"/>
              </a:rPr>
              <a:t>Regulatory Compliance: DPDP Act 2023 &amp; ICMR AI Guidelines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15568"/>
            <a:ext cx="1115568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0" i="1">
                <a:solidFill>
                  <a:srgbClr val="5B7C82"/>
                </a:solidFill>
                <a:latin typeface="Calibri"/>
              </a:rPr>
              <a:t>Meeting Indian and global legal frameworks for trustworthy biomedical artificial intelligence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72768"/>
            <a:ext cx="3566160" cy="4754880"/>
          </a:xfrm>
          <a:prstGeom prst="roundRect">
            <a:avLst/>
          </a:prstGeom>
          <a:solidFill>
            <a:srgbClr val="DC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572768"/>
            <a:ext cx="3566160" cy="59436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3200400" cy="4389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 i="0">
                <a:solidFill>
                  <a:srgbClr val="1B6B93"/>
                </a:solidFill>
                <a:latin typeface="Calibri"/>
              </a:rPr>
              <a:t>DPDP ACT 2023 (INDIA)</a:t>
            </a:r>
          </a:p>
          <a:p>
            <a:pPr algn="l">
              <a:spcBef>
                <a:spcPts val="400"/>
              </a:spcBef>
            </a:pPr>
            <a:r>
              <a:rPr sz="1500" b="1" i="0">
                <a:solidFill>
                  <a:srgbClr val="0F3D3E"/>
                </a:solidFill>
                <a:latin typeface="Cambria"/>
              </a:rPr>
              <a:t>Digital Personal Data Protection Act</a:t>
            </a:r>
          </a:p>
          <a:p>
            <a:pPr algn="l">
              <a:spcBef>
                <a:spcPts val="600"/>
              </a:spcBef>
            </a:pPr>
            <a:r>
              <a:rPr sz="1080" b="0" i="0">
                <a:solidFill>
                  <a:srgbClr val="15262B"/>
                </a:solidFill>
                <a:latin typeface="Calibri"/>
              </a:rPr>
              <a:t>• Section 4 (Grounds for Processing): Strictly processed for legitimate healthcare triage upon user consent.</a:t>
            </a:r>
          </a:p>
          <a:p>
            <a:pPr algn="l">
              <a:spcBef>
                <a:spcPts val="400"/>
              </a:spcBef>
            </a:pPr>
            <a:r>
              <a:rPr sz="1080" b="0" i="0">
                <a:solidFill>
                  <a:srgbClr val="15262B"/>
                </a:solidFill>
                <a:latin typeface="Calibri"/>
              </a:rPr>
              <a:t>• Section 6 (Consent &amp; Purpose): Triage data used solely for diagnostic decision support; no secondary sharing.</a:t>
            </a:r>
          </a:p>
          <a:p>
            <a:pPr algn="l">
              <a:spcBef>
                <a:spcPts val="400"/>
              </a:spcBef>
            </a:pPr>
            <a:r>
              <a:rPr sz="1080" b="0" i="0">
                <a:solidFill>
                  <a:srgbClr val="15262B"/>
                </a:solidFill>
                <a:latin typeface="Calibri"/>
              </a:rPr>
              <a:t>• Section 8 (Data Minimisation): On-premise execution; zero third-party cloud telemetry or patient tracking.</a:t>
            </a:r>
          </a:p>
          <a:p>
            <a:pPr algn="l">
              <a:spcBef>
                <a:spcPts val="400"/>
              </a:spcBef>
            </a:pPr>
            <a:r>
              <a:rPr sz="1080" b="0" i="0">
                <a:solidFill>
                  <a:srgbClr val="15262B"/>
                </a:solidFill>
                <a:latin typeface="Calibri"/>
              </a:rPr>
              <a:t>• Right to Erasure: Patients can purge cases and uploaded images instantaneously.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572768"/>
            <a:ext cx="3566160" cy="4754880"/>
          </a:xfrm>
          <a:prstGeom prst="roundRect">
            <a:avLst/>
          </a:prstGeom>
          <a:solidFill>
            <a:srgbClr val="DC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297680" y="1572768"/>
            <a:ext cx="3566160" cy="59436"/>
          </a:xfrm>
          <a:prstGeom prst="rect">
            <a:avLst/>
          </a:prstGeom>
          <a:solidFill>
            <a:srgbClr val="1B6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80560" y="1737360"/>
            <a:ext cx="3200400" cy="4389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 i="0">
                <a:solidFill>
                  <a:srgbClr val="1B6B93"/>
                </a:solidFill>
                <a:latin typeface="Calibri"/>
              </a:rPr>
              <a:t>ICMR AI GUIDELINES (2023)</a:t>
            </a:r>
          </a:p>
          <a:p>
            <a:pPr algn="l">
              <a:spcBef>
                <a:spcPts val="400"/>
              </a:spcBef>
            </a:pPr>
            <a:r>
              <a:rPr sz="1500" b="1" i="0">
                <a:solidFill>
                  <a:srgbClr val="0F3D3E"/>
                </a:solidFill>
                <a:latin typeface="Cambria"/>
              </a:rPr>
              <a:t>Ethical AI in Biomedical Research</a:t>
            </a:r>
          </a:p>
          <a:p>
            <a:pPr algn="l">
              <a:spcBef>
                <a:spcPts val="600"/>
              </a:spcBef>
            </a:pPr>
            <a:r>
              <a:rPr sz="1080" b="0" i="0">
                <a:solidFill>
                  <a:srgbClr val="15262B"/>
                </a:solidFill>
                <a:latin typeface="Calibri"/>
              </a:rPr>
              <a:t>• Principle of Autonomy: Doctor-in-the-loop retains full decision autonomy; AI acts solely as assistive advice.</a:t>
            </a:r>
          </a:p>
          <a:p>
            <a:pPr algn="l">
              <a:spcBef>
                <a:spcPts val="400"/>
              </a:spcBef>
            </a:pPr>
            <a:r>
              <a:rPr sz="1080" b="0" i="0">
                <a:solidFill>
                  <a:srgbClr val="15262B"/>
                </a:solidFill>
                <a:latin typeface="Calibri"/>
              </a:rPr>
              <a:t>• Principle of Safety &amp; Risk: Certified 3.1% LTT cancer miss bound minimizes harm to patients.</a:t>
            </a:r>
          </a:p>
          <a:p>
            <a:pPr algn="l">
              <a:spcBef>
                <a:spcPts val="400"/>
              </a:spcBef>
            </a:pPr>
            <a:r>
              <a:rPr sz="1080" b="0" i="0">
                <a:solidFill>
                  <a:srgbClr val="15262B"/>
                </a:solidFill>
                <a:latin typeface="Calibri"/>
              </a:rPr>
              <a:t>• Principle of Transparency: RAG look-alike matches and evidence scores explain every algorithmic claim.</a:t>
            </a:r>
          </a:p>
          <a:p>
            <a:pPr algn="l">
              <a:spcBef>
                <a:spcPts val="400"/>
              </a:spcBef>
            </a:pPr>
            <a:r>
              <a:rPr sz="1080" b="0" i="0">
                <a:solidFill>
                  <a:srgbClr val="15262B"/>
                </a:solidFill>
                <a:latin typeface="Calibri"/>
              </a:rPr>
              <a:t>• Accountability: Permanent cryptographic audit logging tracks all clinician actions.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572768"/>
            <a:ext cx="3566160" cy="4754880"/>
          </a:xfrm>
          <a:prstGeom prst="roundRect">
            <a:avLst/>
          </a:prstGeom>
          <a:solidFill>
            <a:srgbClr val="DC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92440" y="1572768"/>
            <a:ext cx="3566160" cy="59436"/>
          </a:xfrm>
          <a:prstGeom prst="rect">
            <a:avLst/>
          </a:prstGeom>
          <a:solidFill>
            <a:srgbClr val="0F3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75320" y="1737360"/>
            <a:ext cx="3200400" cy="4389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 i="0">
                <a:solidFill>
                  <a:srgbClr val="1B6B93"/>
                </a:solidFill>
                <a:latin typeface="Calibri"/>
              </a:rPr>
              <a:t>REPORTING &amp; OPEN SCIENCE</a:t>
            </a:r>
          </a:p>
          <a:p>
            <a:pPr algn="l">
              <a:spcBef>
                <a:spcPts val="400"/>
              </a:spcBef>
            </a:pPr>
            <a:r>
              <a:rPr sz="1500" b="1" i="0">
                <a:solidFill>
                  <a:srgbClr val="0F3D3E"/>
                </a:solidFill>
                <a:latin typeface="Cambria"/>
              </a:rPr>
              <a:t>TRIPOD+AI &amp; Open Source</a:t>
            </a:r>
          </a:p>
          <a:p>
            <a:pPr algn="l">
              <a:spcBef>
                <a:spcPts val="600"/>
              </a:spcBef>
            </a:pPr>
            <a:r>
              <a:rPr sz="1080" b="0" i="0">
                <a:solidFill>
                  <a:srgbClr val="15262B"/>
                </a:solidFill>
                <a:latin typeface="Calibri"/>
              </a:rPr>
              <a:t>• TRIPOD+AI Completed: All 27 clinical prediction checklist items documented in full.</a:t>
            </a:r>
          </a:p>
          <a:p>
            <a:pPr algn="l">
              <a:spcBef>
                <a:spcPts val="400"/>
              </a:spcBef>
            </a:pPr>
            <a:r>
              <a:rPr sz="1080" b="0" i="0">
                <a:solidFill>
                  <a:srgbClr val="15262B"/>
                </a:solidFill>
                <a:latin typeface="Calibri"/>
              </a:rPr>
              <a:t>• Dataset Ethics: PAD-UFES-20 (Mendeley Data, CC BY 4.0, UFES Approval CAAE: 54611416.4.0000.5060).</a:t>
            </a:r>
          </a:p>
          <a:p>
            <a:pPr algn="l">
              <a:spcBef>
                <a:spcPts val="400"/>
              </a:spcBef>
            </a:pPr>
            <a:r>
              <a:rPr sz="1080" b="0" i="0">
                <a:solidFill>
                  <a:srgbClr val="15262B"/>
                </a:solidFill>
                <a:latin typeface="Calibri"/>
              </a:rPr>
              <a:t>• Public GitHub Repository: Fully open source with Docker container and 230 automated tests.</a:t>
            </a:r>
          </a:p>
          <a:p>
            <a:pPr algn="l">
              <a:spcBef>
                <a:spcPts val="400"/>
              </a:spcBef>
            </a:pPr>
            <a:r>
              <a:rPr sz="1080" b="0" i="0">
                <a:solidFill>
                  <a:srgbClr val="15262B"/>
                </a:solidFill>
                <a:latin typeface="Calibri"/>
              </a:rPr>
              <a:t>• Similarity: Verified strictly &lt;10% plagiarism with complete original human authorship.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3D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480560"/>
            <a:ext cx="12191695" cy="2377440"/>
          </a:xfrm>
          <a:prstGeom prst="rect">
            <a:avLst/>
          </a:prstGeom>
          <a:solidFill>
            <a:srgbClr val="0B2E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822960"/>
            <a:ext cx="54864" cy="219456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822960"/>
            <a:ext cx="10515600" cy="11887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5400" b="1" i="0">
                <a:solidFill>
                  <a:srgbClr val="FFFFFF"/>
                </a:solidFill>
                <a:latin typeface="Cambria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05156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2400" b="0" i="0">
                <a:solidFill>
                  <a:srgbClr val="2EC4B6"/>
                </a:solidFill>
                <a:latin typeface="Cambria"/>
              </a:rPr>
              <a:t>Questions &amp; Critical Discussion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697480"/>
            <a:ext cx="5029200" cy="36576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2880360"/>
            <a:ext cx="10515600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50" b="1" i="0">
                <a:solidFill>
                  <a:srgbClr val="FFFFFF"/>
                </a:solidFill>
                <a:latin typeface="Calibri"/>
              </a:rPr>
              <a:t>DERMA-GUARD: Evidence-Aware Specialist Consensus with Risk-Controlled Evidence Acquisition and Deferral for Multimodal Dermatology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114800"/>
            <a:ext cx="8796319" cy="70019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b="1" dirty="0">
                <a:solidFill>
                  <a:srgbClr val="2EC4B6"/>
                </a:solidFill>
                <a:latin typeface="Calibri"/>
              </a:rPr>
              <a:t>Research Team &amp; Authors: </a:t>
            </a:r>
            <a:r>
              <a:rPr sz="2000" b="1" dirty="0">
                <a:solidFill>
                  <a:srgbClr val="FFFFFF"/>
                </a:solidFill>
                <a:latin typeface="Calibri"/>
              </a:rPr>
              <a:t>Patel Kavya </a:t>
            </a:r>
            <a:r>
              <a:rPr sz="2000" b="1" dirty="0" err="1">
                <a:solidFill>
                  <a:srgbClr val="FFFFFF"/>
                </a:solidFill>
                <a:latin typeface="Calibri"/>
              </a:rPr>
              <a:t>Vipulkumar</a:t>
            </a:r>
            <a:r>
              <a:rPr sz="2000" b="1" dirty="0">
                <a:solidFill>
                  <a:srgbClr val="FFFFFF"/>
                </a:solidFill>
                <a:latin typeface="Calibri"/>
              </a:rPr>
              <a:t>   |   Aarav </a:t>
            </a:r>
            <a:r>
              <a:rPr sz="2000" b="1" dirty="0" err="1">
                <a:solidFill>
                  <a:srgbClr val="FFFFFF"/>
                </a:solidFill>
                <a:latin typeface="Calibri"/>
              </a:rPr>
              <a:t>Prawin</a:t>
            </a:r>
            <a:endParaRPr sz="2000" b="1" dirty="0">
              <a:solidFill>
                <a:srgbClr val="FFFFFF"/>
              </a:solidFill>
              <a:latin typeface="Calibri"/>
            </a:endParaRPr>
          </a:p>
          <a:p>
            <a:pPr>
              <a:spcBef>
                <a:spcPts val="300"/>
              </a:spcBef>
            </a:pPr>
            <a:r>
              <a:rPr sz="2000" b="1" dirty="0">
                <a:solidFill>
                  <a:srgbClr val="2EC4B6"/>
                </a:solidFill>
                <a:latin typeface="Calibri"/>
              </a:rPr>
              <a:t>GitHub Repository: </a:t>
            </a:r>
            <a:r>
              <a:rPr lang="en-IN" sz="2000" b="1" dirty="0">
                <a:solidFill>
                  <a:srgbClr val="BFE3DE"/>
                </a:solidFill>
                <a:latin typeface="Courier New"/>
              </a:rPr>
              <a:t>https://github.com/KavyaPatel83/DERMA-GUARD</a:t>
            </a:r>
            <a:endParaRPr sz="2000" b="1" dirty="0">
              <a:solidFill>
                <a:srgbClr val="BFE3DE"/>
              </a:solidFill>
              <a:latin typeface="Courier New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3280</Words>
  <Application>Microsoft Office PowerPoint</Application>
  <PresentationFormat>Widescreen</PresentationFormat>
  <Paragraphs>295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Kavya Patel</cp:lastModifiedBy>
  <cp:revision>3</cp:revision>
  <dcterms:created xsi:type="dcterms:W3CDTF">2013-01-27T09:14:16Z</dcterms:created>
  <dcterms:modified xsi:type="dcterms:W3CDTF">2026-10-31T11:09:19Z</dcterms:modified>
  <cp:category/>
</cp:coreProperties>
</file>